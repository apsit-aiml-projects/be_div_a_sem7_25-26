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0083800" cy="7562850"/>
  <p:notesSz cx="100838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3698"/>
            <a:ext cx="494030" cy="3076575"/>
          </a:xfrm>
          <a:custGeom>
            <a:avLst/>
            <a:gdLst/>
            <a:ahLst/>
            <a:cxnLst/>
            <a:rect l="l" t="t" r="r" b="b"/>
            <a:pathLst>
              <a:path w="494029" h="3076575">
                <a:moveTo>
                  <a:pt x="0" y="0"/>
                </a:moveTo>
                <a:lnTo>
                  <a:pt x="0" y="3075976"/>
                </a:lnTo>
                <a:lnTo>
                  <a:pt x="493771" y="3075976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56262" y="4608516"/>
            <a:ext cx="4424680" cy="2951480"/>
          </a:xfrm>
          <a:custGeom>
            <a:avLst/>
            <a:gdLst/>
            <a:ahLst/>
            <a:cxnLst/>
            <a:rect l="l" t="t" r="r" b="b"/>
            <a:pathLst>
              <a:path w="4424680" h="2951479">
                <a:moveTo>
                  <a:pt x="0" y="2951159"/>
                </a:moveTo>
                <a:lnTo>
                  <a:pt x="4424362" y="0"/>
                </a:lnTo>
              </a:path>
            </a:pathLst>
          </a:custGeom>
          <a:ln w="9524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764462" y="0"/>
            <a:ext cx="1343025" cy="7559675"/>
          </a:xfrm>
          <a:custGeom>
            <a:avLst/>
            <a:gdLst/>
            <a:ahLst/>
            <a:cxnLst/>
            <a:rect l="l" t="t" r="r" b="b"/>
            <a:pathLst>
              <a:path w="1343025" h="7559675">
                <a:moveTo>
                  <a:pt x="0" y="0"/>
                </a:moveTo>
                <a:lnTo>
                  <a:pt x="1343025" y="7559675"/>
                </a:lnTo>
              </a:path>
            </a:pathLst>
          </a:custGeom>
          <a:ln w="9524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597831" y="0"/>
            <a:ext cx="2482850" cy="7559675"/>
          </a:xfrm>
          <a:custGeom>
            <a:avLst/>
            <a:gdLst/>
            <a:ahLst/>
            <a:cxnLst/>
            <a:rect l="l" t="t" r="r" b="b"/>
            <a:pathLst>
              <a:path w="2482850" h="7559675">
                <a:moveTo>
                  <a:pt x="2230748" y="0"/>
                </a:moveTo>
                <a:lnTo>
                  <a:pt x="0" y="7559675"/>
                </a:lnTo>
                <a:lnTo>
                  <a:pt x="2482793" y="7559675"/>
                </a:lnTo>
                <a:lnTo>
                  <a:pt x="2482793" y="9002"/>
                </a:lnTo>
                <a:lnTo>
                  <a:pt x="2230748" y="0"/>
                </a:lnTo>
                <a:close/>
              </a:path>
            </a:pathLst>
          </a:custGeom>
          <a:solidFill>
            <a:srgbClr val="5FCAEE">
              <a:alpha val="3568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943930" y="0"/>
            <a:ext cx="2136775" cy="7559675"/>
          </a:xfrm>
          <a:custGeom>
            <a:avLst/>
            <a:gdLst/>
            <a:ahLst/>
            <a:cxnLst/>
            <a:rect l="l" t="t" r="r" b="b"/>
            <a:pathLst>
              <a:path w="2136775" h="7559675">
                <a:moveTo>
                  <a:pt x="2136694" y="0"/>
                </a:moveTo>
                <a:lnTo>
                  <a:pt x="0" y="0"/>
                </a:lnTo>
                <a:lnTo>
                  <a:pt x="1323869" y="7559675"/>
                </a:lnTo>
                <a:lnTo>
                  <a:pt x="2136694" y="7559675"/>
                </a:lnTo>
                <a:lnTo>
                  <a:pt x="2136694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318375" y="4322038"/>
            <a:ext cx="2762250" cy="3237865"/>
          </a:xfrm>
          <a:custGeom>
            <a:avLst/>
            <a:gdLst/>
            <a:ahLst/>
            <a:cxnLst/>
            <a:rect l="l" t="t" r="r" b="b"/>
            <a:pathLst>
              <a:path w="2762250" h="3237865">
                <a:moveTo>
                  <a:pt x="2762250" y="0"/>
                </a:moveTo>
                <a:lnTo>
                  <a:pt x="0" y="3237636"/>
                </a:lnTo>
                <a:lnTo>
                  <a:pt x="2762250" y="3237636"/>
                </a:lnTo>
                <a:lnTo>
                  <a:pt x="2762250" y="0"/>
                </a:lnTo>
                <a:close/>
              </a:path>
            </a:pathLst>
          </a:custGeom>
          <a:solidFill>
            <a:srgbClr val="16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730525" y="0"/>
            <a:ext cx="2350135" cy="7559675"/>
          </a:xfrm>
          <a:custGeom>
            <a:avLst/>
            <a:gdLst/>
            <a:ahLst/>
            <a:cxnLst/>
            <a:rect l="l" t="t" r="r" b="b"/>
            <a:pathLst>
              <a:path w="2350134" h="7559675">
                <a:moveTo>
                  <a:pt x="2350099" y="0"/>
                </a:moveTo>
                <a:lnTo>
                  <a:pt x="0" y="0"/>
                </a:lnTo>
                <a:lnTo>
                  <a:pt x="2044194" y="7559675"/>
                </a:lnTo>
                <a:lnTo>
                  <a:pt x="2350099" y="7550623"/>
                </a:lnTo>
                <a:lnTo>
                  <a:pt x="2350099" y="0"/>
                </a:lnTo>
                <a:close/>
              </a:path>
            </a:pathLst>
          </a:custGeom>
          <a:solidFill>
            <a:srgbClr val="16AFE3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145587" y="0"/>
            <a:ext cx="935355" cy="7559675"/>
          </a:xfrm>
          <a:custGeom>
            <a:avLst/>
            <a:gdLst/>
            <a:ahLst/>
            <a:cxnLst/>
            <a:rect l="l" t="t" r="r" b="b"/>
            <a:pathLst>
              <a:path w="935354" h="7559675">
                <a:moveTo>
                  <a:pt x="935037" y="0"/>
                </a:moveTo>
                <a:lnTo>
                  <a:pt x="744768" y="0"/>
                </a:lnTo>
                <a:lnTo>
                  <a:pt x="0" y="7559675"/>
                </a:lnTo>
                <a:lnTo>
                  <a:pt x="935037" y="7559675"/>
                </a:lnTo>
                <a:lnTo>
                  <a:pt x="935037" y="0"/>
                </a:lnTo>
                <a:close/>
              </a:path>
            </a:pathLst>
          </a:custGeom>
          <a:solidFill>
            <a:srgbClr val="2D83C3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924639" y="0"/>
            <a:ext cx="1156335" cy="7559675"/>
          </a:xfrm>
          <a:custGeom>
            <a:avLst/>
            <a:gdLst/>
            <a:ahLst/>
            <a:cxnLst/>
            <a:rect l="l" t="t" r="r" b="b"/>
            <a:pathLst>
              <a:path w="1156334" h="7559675">
                <a:moveTo>
                  <a:pt x="1155985" y="0"/>
                </a:moveTo>
                <a:lnTo>
                  <a:pt x="0" y="0"/>
                </a:lnTo>
                <a:lnTo>
                  <a:pt x="1033675" y="7559675"/>
                </a:lnTo>
                <a:lnTo>
                  <a:pt x="1155985" y="7559675"/>
                </a:lnTo>
                <a:lnTo>
                  <a:pt x="1155985" y="0"/>
                </a:lnTo>
                <a:close/>
              </a:path>
            </a:pathLst>
          </a:custGeom>
          <a:solidFill>
            <a:srgbClr val="216192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894762" y="5421417"/>
            <a:ext cx="1186180" cy="2138680"/>
          </a:xfrm>
          <a:custGeom>
            <a:avLst/>
            <a:gdLst/>
            <a:ahLst/>
            <a:cxnLst/>
            <a:rect l="l" t="t" r="r" b="b"/>
            <a:pathLst>
              <a:path w="1186179" h="2138679">
                <a:moveTo>
                  <a:pt x="1185862" y="0"/>
                </a:moveTo>
                <a:lnTo>
                  <a:pt x="0" y="2138257"/>
                </a:lnTo>
                <a:lnTo>
                  <a:pt x="1185862" y="2132740"/>
                </a:lnTo>
                <a:lnTo>
                  <a:pt x="1185862" y="0"/>
                </a:lnTo>
                <a:close/>
              </a:path>
            </a:pathLst>
          </a:custGeom>
          <a:solidFill>
            <a:srgbClr val="16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957" y="149170"/>
            <a:ext cx="8438354" cy="10553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8532" y="1430058"/>
            <a:ext cx="885698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0" y="2147861"/>
            <a:ext cx="887158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3104" marR="5080" indent="-324104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AI</a:t>
            </a:r>
            <a:r>
              <a:rPr dirty="0" sz="3200" spc="-114"/>
              <a:t> </a:t>
            </a:r>
            <a:r>
              <a:rPr dirty="0" sz="3200"/>
              <a:t>DRIVEN</a:t>
            </a:r>
            <a:r>
              <a:rPr dirty="0" sz="3200" spc="-114"/>
              <a:t> </a:t>
            </a:r>
            <a:r>
              <a:rPr dirty="0" sz="3200"/>
              <a:t>AUTONOMOUS</a:t>
            </a:r>
            <a:r>
              <a:rPr dirty="0" sz="3200" spc="-110"/>
              <a:t> </a:t>
            </a:r>
            <a:r>
              <a:rPr dirty="0" sz="3200"/>
              <a:t>STEERING</a:t>
            </a:r>
            <a:r>
              <a:rPr dirty="0" sz="3200" spc="-114"/>
              <a:t> </a:t>
            </a:r>
            <a:r>
              <a:rPr dirty="0" sz="3200" spc="-10"/>
              <a:t>USING </a:t>
            </a:r>
            <a:r>
              <a:rPr dirty="0" sz="3200"/>
              <a:t>IoT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0"/>
              <a:t> </a:t>
            </a:r>
            <a:r>
              <a:rPr dirty="0" sz="3200" spc="-25"/>
              <a:t>ML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2427680" y="3610902"/>
            <a:ext cx="5046345" cy="3259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Times New Roman"/>
                <a:cs typeface="Times New Roman"/>
              </a:rPr>
              <a:t>Ayush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Gupta-(22106074) </a:t>
            </a:r>
            <a:r>
              <a:rPr dirty="0" sz="3200">
                <a:latin typeface="Times New Roman"/>
                <a:cs typeface="Times New Roman"/>
              </a:rPr>
              <a:t>Anthony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Chavez-</a:t>
            </a:r>
            <a:r>
              <a:rPr dirty="0" sz="3200" spc="-10">
                <a:latin typeface="Times New Roman"/>
                <a:cs typeface="Times New Roman"/>
              </a:rPr>
              <a:t>(22106038) </a:t>
            </a:r>
            <a:r>
              <a:rPr dirty="0" sz="3200">
                <a:latin typeface="Times New Roman"/>
                <a:cs typeface="Times New Roman"/>
              </a:rPr>
              <a:t>Krishna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Dongre-</a:t>
            </a:r>
            <a:r>
              <a:rPr dirty="0" sz="3200" spc="-10">
                <a:latin typeface="Times New Roman"/>
                <a:cs typeface="Times New Roman"/>
              </a:rPr>
              <a:t>(22106089) </a:t>
            </a:r>
            <a:r>
              <a:rPr dirty="0" sz="3200">
                <a:latin typeface="Times New Roman"/>
                <a:cs typeface="Times New Roman"/>
              </a:rPr>
              <a:t>Sumedh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Gadpayle-</a:t>
            </a:r>
            <a:r>
              <a:rPr dirty="0" sz="3200" spc="-10">
                <a:latin typeface="Times New Roman"/>
                <a:cs typeface="Times New Roman"/>
              </a:rPr>
              <a:t>(22106076)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Project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Guide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400" b="1">
                <a:latin typeface="Times New Roman"/>
                <a:cs typeface="Times New Roman"/>
              </a:rPr>
              <a:t>Dr.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Tejashri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Kolhe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743075"/>
            <a:ext cx="10080625" cy="0"/>
          </a:xfrm>
          <a:custGeom>
            <a:avLst/>
            <a:gdLst/>
            <a:ahLst/>
            <a:cxnLst/>
            <a:rect l="l" t="t" r="r" b="b"/>
            <a:pathLst>
              <a:path w="10080625" h="0">
                <a:moveTo>
                  <a:pt x="0" y="0"/>
                </a:moveTo>
                <a:lnTo>
                  <a:pt x="10080625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179387"/>
            <a:ext cx="770572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1101" y="370957"/>
            <a:ext cx="14973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Outline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600075" y="1054474"/>
            <a:ext cx="5347335" cy="496316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34645" indent="-321945">
              <a:lnSpc>
                <a:spcPct val="100000"/>
              </a:lnSpc>
              <a:spcBef>
                <a:spcPts val="15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Survey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Objective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Experimental</a:t>
            </a:r>
            <a:r>
              <a:rPr dirty="0" sz="2400" spc="-20">
                <a:latin typeface="Times New Roman"/>
                <a:cs typeface="Times New Roman"/>
              </a:rPr>
              <a:t> Setup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 spc="-10">
                <a:latin typeface="Times New Roman"/>
                <a:cs typeface="Times New Roman"/>
              </a:rPr>
              <a:t>Implementation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Conclusion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future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Arial"/>
              <a:buChar char="▪"/>
              <a:tabLst>
                <a:tab pos="334645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86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Introduction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510536" y="1574063"/>
            <a:ext cx="880935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aims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basic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>
                <a:latin typeface="Times New Roman"/>
                <a:cs typeface="Times New Roman"/>
              </a:rPr>
              <a:t>trained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deep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predict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angles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video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physically </a:t>
            </a:r>
            <a:r>
              <a:rPr dirty="0" sz="2000">
                <a:latin typeface="Times New Roman"/>
                <a:cs typeface="Times New Roman"/>
              </a:rPr>
              <a:t>actuates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mechanism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stepper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controlled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Arduino.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serves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foundation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larger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driving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platform,</a:t>
            </a:r>
            <a:r>
              <a:rPr dirty="0" sz="2000" spc="409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where </a:t>
            </a:r>
            <a:r>
              <a:rPr dirty="0" sz="2000">
                <a:latin typeface="Times New Roman"/>
                <a:cs typeface="Times New Roman"/>
              </a:rPr>
              <a:t>future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components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braking,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acceleration,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object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2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added.</a:t>
            </a:r>
            <a:r>
              <a:rPr dirty="0" sz="2000" spc="2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>
                <a:latin typeface="Times New Roman"/>
                <a:cs typeface="Times New Roman"/>
              </a:rPr>
              <a:t>alignment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United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Nations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Sustainable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Goals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(SDGs),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 spc="-20">
                <a:latin typeface="Times New Roman"/>
                <a:cs typeface="Times New Roman"/>
              </a:rPr>
              <a:t>this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supports</a:t>
            </a:r>
            <a:r>
              <a:rPr dirty="0" sz="2000" spc="120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SDG</a:t>
            </a:r>
            <a:r>
              <a:rPr dirty="0" sz="2000" spc="114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9</a:t>
            </a:r>
            <a:r>
              <a:rPr dirty="0" sz="2000" spc="114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(Industry,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Innovation,</a:t>
            </a:r>
            <a:r>
              <a:rPr dirty="0" sz="2000" spc="11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Infrastructure)</a:t>
            </a:r>
            <a:r>
              <a:rPr dirty="0" sz="2000" spc="114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fostering </a:t>
            </a:r>
            <a:r>
              <a:rPr dirty="0" sz="2000">
                <a:latin typeface="Times New Roman"/>
                <a:cs typeface="Times New Roman"/>
              </a:rPr>
              <a:t>innovation</a:t>
            </a:r>
            <a:r>
              <a:rPr dirty="0" sz="2000" spc="2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intelligent</a:t>
            </a:r>
            <a:r>
              <a:rPr dirty="0" sz="2000" spc="2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2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24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40">
                <a:latin typeface="Times New Roman"/>
                <a:cs typeface="Times New Roman"/>
              </a:rPr>
              <a:t>  </a:t>
            </a:r>
            <a:r>
              <a:rPr dirty="0" sz="2000" spc="-20">
                <a:latin typeface="Times New Roman"/>
                <a:cs typeface="Times New Roman"/>
              </a:rPr>
              <a:t>low-</a:t>
            </a:r>
            <a:r>
              <a:rPr dirty="0" sz="2000">
                <a:latin typeface="Times New Roman"/>
                <a:cs typeface="Times New Roman"/>
              </a:rPr>
              <a:t>cost</a:t>
            </a:r>
            <a:r>
              <a:rPr dirty="0" sz="2000" spc="24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automation;</a:t>
            </a:r>
            <a:r>
              <a:rPr dirty="0" sz="2000" spc="260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SDG</a:t>
            </a:r>
            <a:r>
              <a:rPr dirty="0" sz="2000" spc="245" b="1">
                <a:latin typeface="Times New Roman"/>
                <a:cs typeface="Times New Roman"/>
              </a:rPr>
              <a:t>  </a:t>
            </a:r>
            <a:r>
              <a:rPr dirty="0" sz="2000" spc="-25" b="1">
                <a:latin typeface="Times New Roman"/>
                <a:cs typeface="Times New Roman"/>
              </a:rPr>
              <a:t>11 </a:t>
            </a:r>
            <a:r>
              <a:rPr dirty="0" sz="2000">
                <a:latin typeface="Times New Roman"/>
                <a:cs typeface="Times New Roman"/>
              </a:rPr>
              <a:t>(Sustainable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Cities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Communities)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contributing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safer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43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efficient </a:t>
            </a:r>
            <a:r>
              <a:rPr dirty="0" sz="2000">
                <a:latin typeface="Times New Roman"/>
                <a:cs typeface="Times New Roman"/>
              </a:rPr>
              <a:t>urban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mobility.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Additionally,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project’s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1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electric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energy-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aligns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SDG</a:t>
            </a:r>
            <a:r>
              <a:rPr dirty="0" sz="2000" spc="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13</a:t>
            </a:r>
            <a:r>
              <a:rPr dirty="0" sz="2000" spc="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(Climate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Action),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promoting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sustainable </a:t>
            </a:r>
            <a:r>
              <a:rPr dirty="0" sz="2000">
                <a:latin typeface="Times New Roman"/>
                <a:cs typeface="Times New Roman"/>
              </a:rPr>
              <a:t>transportation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carbon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impact.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47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Literature</a:t>
            </a:r>
            <a:r>
              <a:rPr dirty="0" sz="3600" spc="-65"/>
              <a:t> </a:t>
            </a:r>
            <a:r>
              <a:rPr dirty="0" sz="3600"/>
              <a:t>Survey</a:t>
            </a:r>
            <a:r>
              <a:rPr dirty="0" sz="3600" spc="-65"/>
              <a:t> </a:t>
            </a:r>
            <a:r>
              <a:rPr dirty="0" sz="3600"/>
              <a:t>of</a:t>
            </a:r>
            <a:r>
              <a:rPr dirty="0" sz="3600" spc="-60"/>
              <a:t> </a:t>
            </a:r>
            <a:r>
              <a:rPr dirty="0" sz="3600"/>
              <a:t>the</a:t>
            </a:r>
            <a:r>
              <a:rPr dirty="0" sz="3600" spc="-65"/>
              <a:t> </a:t>
            </a:r>
            <a:r>
              <a:rPr dirty="0" sz="3600"/>
              <a:t>existing</a:t>
            </a:r>
            <a:r>
              <a:rPr dirty="0" sz="3600" spc="-60"/>
              <a:t> </a:t>
            </a:r>
            <a:r>
              <a:rPr dirty="0" sz="3600" spc="-10"/>
              <a:t>system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9202" y="1314386"/>
          <a:ext cx="9952990" cy="600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/>
                <a:gridCol w="1546225"/>
                <a:gridCol w="1488440"/>
                <a:gridCol w="1821814"/>
                <a:gridCol w="2470785"/>
                <a:gridCol w="1878964"/>
              </a:tblGrid>
              <a:tr h="233045">
                <a:tc>
                  <a:txBody>
                    <a:bodyPr/>
                    <a:lstStyle/>
                    <a:p>
                      <a:pPr algn="r" marR="155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Year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Title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Domain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Algorithm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Dataset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89"/>
                        </a:lnSpc>
                        <a:spcBef>
                          <a:spcPts val="50"/>
                        </a:spcBef>
                      </a:pPr>
                      <a:r>
                        <a:rPr dirty="0" sz="17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Gap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</a:tr>
              <a:tr h="1849120">
                <a:tc>
                  <a:txBody>
                    <a:bodyPr/>
                    <a:lstStyle/>
                    <a:p>
                      <a:pPr algn="r" marR="1479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6096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961390" algn="l"/>
                          <a:tab pos="984885" algn="l"/>
                          <a:tab pos="1224915" algn="l"/>
                        </a:tabLst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stepper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motor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dirty="0" sz="17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regulation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7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robotics applications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6096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358900" algn="l"/>
                        </a:tabLst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Robotics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5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17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7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Power electronics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7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7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7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7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0">
                          <a:latin typeface="Times New Roman"/>
                          <a:cs typeface="Times New Roman"/>
                        </a:rPr>
                        <a:t>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7945" marR="61594">
                        <a:lnSpc>
                          <a:spcPct val="148000"/>
                        </a:lnSpc>
                        <a:tabLst>
                          <a:tab pos="622300" algn="l"/>
                          <a:tab pos="1152525" algn="l"/>
                          <a:tab pos="1356360" algn="l"/>
                        </a:tabLst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700" spc="3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700" spc="3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Park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Transformation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two-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model;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EB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2233295" algn="l"/>
                        </a:tabLst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Experimental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just" marL="68580" marR="61594">
                        <a:lnSpc>
                          <a:spcPct val="148000"/>
                        </a:lnSpc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dirty="0" sz="1700" spc="20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dirty="0" sz="1700" spc="20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motor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dirty="0" sz="1700" spc="37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voltage,</a:t>
                      </a:r>
                      <a:r>
                        <a:rPr dirty="0" sz="1700" spc="37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current,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speed,</a:t>
                      </a:r>
                      <a:r>
                        <a:rPr dirty="0" sz="1700" spc="30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torque;</a:t>
                      </a:r>
                      <a:r>
                        <a:rPr dirty="0" sz="1700" spc="30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hardware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implementation.</a:t>
                      </a:r>
                      <a:r>
                        <a:rPr dirty="0" sz="1700" spc="33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Speed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dirty="0" sz="17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700" spc="3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700" spc="3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~6000</a:t>
                      </a:r>
                      <a:r>
                        <a:rPr dirty="0" sz="1700" spc="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(units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presumably</a:t>
                      </a:r>
                      <a:r>
                        <a:rPr dirty="0" sz="17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pulses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rpm)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Possibly</a:t>
                      </a:r>
                      <a:r>
                        <a:rPr dirty="0" sz="1700" spc="434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limited: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48000"/>
                        </a:lnSpc>
                        <a:tabLst>
                          <a:tab pos="1367155" algn="l"/>
                        </a:tabLst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didn’t</a:t>
                      </a:r>
                      <a:r>
                        <a:rPr dirty="0" sz="1700" spc="325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compare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other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48000"/>
                        </a:lnSpc>
                        <a:tabLst>
                          <a:tab pos="1426845" algn="l"/>
                        </a:tabLst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dirty="0" sz="1700" spc="39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control methods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(e.g.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48000"/>
                        </a:lnSpc>
                        <a:tabLst>
                          <a:tab pos="1043305" algn="l"/>
                        </a:tabLst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adaptive,</a:t>
                      </a:r>
                      <a:r>
                        <a:rPr dirty="0" sz="1700" spc="40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fuzzy,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neural).</a:t>
                      </a:r>
                      <a:r>
                        <a:rPr dirty="0" sz="17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dirty="0" sz="17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speed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dirty="0" sz="1700" spc="4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700" spc="4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6000;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behavior</a:t>
                      </a:r>
                      <a:r>
                        <a:rPr dirty="0" sz="1700" spc="4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700" spc="4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very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7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dirty="0" sz="17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7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under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variation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maybe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7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tested.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1202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60960">
                        <a:lnSpc>
                          <a:spcPts val="2039"/>
                        </a:lnSpc>
                        <a:spcBef>
                          <a:spcPts val="40"/>
                        </a:spcBef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[Golluri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Ramcharan</a:t>
                      </a:r>
                      <a:r>
                        <a:rPr dirty="0" sz="17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Dhunnapothula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Raghu</a:t>
                      </a:r>
                      <a:r>
                        <a:rPr dirty="0" sz="17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0">
                          <a:latin typeface="Times New Roman"/>
                          <a:cs typeface="Times New Roman"/>
                        </a:rPr>
                        <a:t>]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7945" marR="60960">
                        <a:lnSpc>
                          <a:spcPts val="3020"/>
                        </a:lnSpc>
                        <a:spcBef>
                          <a:spcPts val="75"/>
                        </a:spcBef>
                        <a:tabLst>
                          <a:tab pos="1584960" algn="l"/>
                        </a:tabLst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MATLAB/Simulin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dirty="0" sz="17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7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7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>
                          <a:latin typeface="Times New Roman"/>
                          <a:cs typeface="Times New Roman"/>
                        </a:rPr>
                        <a:t>with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272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Arduino.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37417" y="285933"/>
          <a:ext cx="9704070" cy="6962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165"/>
                <a:gridCol w="1589405"/>
                <a:gridCol w="1530350"/>
                <a:gridCol w="1872614"/>
                <a:gridCol w="1566544"/>
                <a:gridCol w="2498725"/>
              </a:tblGrid>
              <a:tr h="228600">
                <a:tc>
                  <a:txBody>
                    <a:bodyPr/>
                    <a:lstStyle/>
                    <a:p>
                      <a:pPr algn="r" marR="9334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Domain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1639"/>
                        </a:lnSpc>
                        <a:spcBef>
                          <a:spcPts val="5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</a:tr>
              <a:tr h="6733540">
                <a:tc>
                  <a:txBody>
                    <a:bodyPr/>
                    <a:lstStyle/>
                    <a:p>
                      <a:pPr algn="r" marR="749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Designing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165100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Crafting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Stepper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Position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Mega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2560 by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-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>
                          <a:latin typeface="Trebuchet MS"/>
                          <a:cs typeface="Trebuchet MS"/>
                        </a:rPr>
                        <a:t>[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Dr.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Ruchi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125095">
                        <a:lnSpc>
                          <a:spcPct val="148000"/>
                        </a:lnSpc>
                        <a:spcBef>
                          <a:spcPts val="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Pandey,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Anand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Goswami,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Uttam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Lal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Yadav,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Yogesh Vishwakarma</a:t>
                      </a:r>
                      <a:r>
                        <a:rPr dirty="0" sz="1600" spc="-10">
                          <a:latin typeface="Trebuchet MS"/>
                          <a:cs typeface="Trebuchet MS"/>
                        </a:rPr>
                        <a:t>]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40398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Robotics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/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88519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ct val="148000"/>
                        </a:lnSpc>
                        <a:tabLst>
                          <a:tab pos="591820" algn="l"/>
                        </a:tabLst>
                      </a:pP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Embedded Control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115570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Mega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2560 +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Rotary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Encoder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feedback;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likely</a:t>
                      </a:r>
                      <a:r>
                        <a:rPr dirty="0" sz="16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closed-loop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control.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Experimental: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60960">
                        <a:lnSpc>
                          <a:spcPct val="148000"/>
                        </a:lnSpc>
                        <a:tabLst>
                          <a:tab pos="461009" algn="l"/>
                          <a:tab pos="832485" algn="l"/>
                          <a:tab pos="875665" algn="l"/>
                          <a:tab pos="954405" algn="l"/>
                          <a:tab pos="1191895" algn="l"/>
                          <a:tab pos="1248410" algn="l"/>
                          <a:tab pos="133858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synchronous control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stepper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motors; using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3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position feedback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via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encoder;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testing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control.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probably</a:t>
                      </a:r>
                      <a:r>
                        <a:rPr dirty="0" sz="1600" spc="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600" spc="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5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simple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 marR="62230">
                        <a:lnSpc>
                          <a:spcPct val="148000"/>
                        </a:lnSpc>
                        <a:tabLst>
                          <a:tab pos="1723389" algn="l"/>
                        </a:tabLst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position</a:t>
                      </a:r>
                      <a:r>
                        <a:rPr dirty="0" sz="1600" spc="2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2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dirty="0" sz="1600" spc="2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load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disturbance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analysis,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7945" marR="61594">
                        <a:lnSpc>
                          <a:spcPct val="148400"/>
                        </a:lnSpc>
                        <a:spcBef>
                          <a:spcPts val="4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dirty="0" sz="1600">
                          <a:latin typeface="Microsoft Sans Serif"/>
                          <a:cs typeface="Microsoft Sans Serif"/>
                        </a:rPr>
                        <a:t>‑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dirty="0" sz="1600">
                          <a:latin typeface="Microsoft Sans Serif"/>
                          <a:cs typeface="Microsoft Sans Serif"/>
                        </a:rPr>
                        <a:t>‑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6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offs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maybe</a:t>
                      </a:r>
                      <a:r>
                        <a:rPr dirty="0" sz="16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explored).</a:t>
                      </a:r>
                      <a:r>
                        <a:rPr dirty="0" sz="16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Also,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likely</a:t>
                      </a:r>
                      <a:r>
                        <a:rPr dirty="0" sz="16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6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6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dataset;</a:t>
                      </a:r>
                      <a:r>
                        <a:rPr dirty="0" sz="16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“real</a:t>
                      </a:r>
                      <a:r>
                        <a:rPr dirty="0" sz="1600" spc="7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requirements”</a:t>
                      </a:r>
                      <a:r>
                        <a:rPr dirty="0" sz="1600" spc="8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600" spc="7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per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600" spc="28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hardware,</a:t>
                      </a:r>
                      <a:r>
                        <a:rPr dirty="0" sz="1600" spc="28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dirty="0" sz="1600" spc="41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benchmarks.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600" spc="40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dirty="0" sz="1600" spc="40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robustness</a:t>
                      </a:r>
                      <a:r>
                        <a:rPr dirty="0" sz="1600" spc="409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dirty="0" sz="1600" spc="45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 spc="45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dirty="0" sz="1600" spc="4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45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external disturbances.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1413" y="954811"/>
          <a:ext cx="9954260" cy="586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0"/>
                <a:gridCol w="1403350"/>
                <a:gridCol w="1758950"/>
                <a:gridCol w="1898650"/>
                <a:gridCol w="2031999"/>
                <a:gridCol w="2089784"/>
              </a:tblGrid>
              <a:tr h="4692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Domain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7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Prototype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2EBF8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dirty="0" sz="1400" spc="40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400" spc="40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auxiliary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48000"/>
                        </a:lnSpc>
                        <a:spcBef>
                          <a:spcPts val="5"/>
                        </a:spcBef>
                        <a:tabLst>
                          <a:tab pos="1323975" algn="l"/>
                        </a:tabLst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steering</a:t>
                      </a:r>
                      <a:r>
                        <a:rPr dirty="0" sz="1400" spc="2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gear</a:t>
                      </a:r>
                      <a:r>
                        <a:rPr dirty="0" sz="1400" spc="2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demo; maritime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ships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auxiliary</a:t>
                      </a:r>
                      <a:r>
                        <a:rPr dirty="0" sz="1400" spc="27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machinery control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691005" algn="l"/>
                        </a:tabLst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8580" marR="62230">
                        <a:lnSpc>
                          <a:spcPct val="1000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4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procedural</a:t>
                      </a:r>
                      <a:r>
                        <a:rPr dirty="0" sz="1400" spc="4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model;</a:t>
                      </a:r>
                      <a:r>
                        <a:rPr dirty="0" sz="1400" spc="4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uses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ESP8266</a:t>
                      </a:r>
                      <a:r>
                        <a:rPr dirty="0" sz="1400" spc="3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dirty="0" sz="1400" spc="3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WiFi,</a:t>
                      </a:r>
                      <a:r>
                        <a:rPr dirty="0" sz="1400" spc="3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Servo</a:t>
                      </a:r>
                      <a:r>
                        <a:rPr dirty="0" sz="1400" spc="3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1400" spc="3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steering</a:t>
                      </a:r>
                      <a:r>
                        <a:rPr dirty="0" sz="14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direction/angle;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400" spc="45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400" spc="45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smartphone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app;</a:t>
                      </a:r>
                      <a:r>
                        <a:rPr dirty="0" sz="1400" spc="33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microcontroller logic.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400" spc="36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prototype: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8580" marR="61594">
                        <a:lnSpc>
                          <a:spcPct val="148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stepper</a:t>
                      </a:r>
                      <a:r>
                        <a:rPr dirty="0" sz="1400" spc="1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motor</a:t>
                      </a:r>
                      <a:r>
                        <a:rPr dirty="0" sz="1400" spc="1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400" spc="14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driver;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experimental</a:t>
                      </a:r>
                      <a:r>
                        <a:rPr dirty="0" sz="1400" spc="2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dirty="0" sz="1400" spc="2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archery</a:t>
                      </a:r>
                      <a:r>
                        <a:rPr dirty="0" sz="1400" spc="47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drawer;</a:t>
                      </a:r>
                      <a:r>
                        <a:rPr dirty="0" sz="1400" spc="48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standardized</a:t>
                      </a:r>
                      <a:r>
                        <a:rPr dirty="0" sz="1400" spc="345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dataset;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measurements</a:t>
                      </a:r>
                      <a:r>
                        <a:rPr dirty="0" sz="1400" spc="13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400" spc="13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likely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mechanical</a:t>
                      </a:r>
                      <a:r>
                        <a:rPr dirty="0" sz="1400" spc="39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movement,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angle,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perhaps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tension.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just" marL="679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algorithmic</a:t>
                      </a:r>
                      <a:r>
                        <a:rPr dirty="0" sz="14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detail</a:t>
                      </a:r>
                      <a:r>
                        <a:rPr dirty="0" sz="1400" spc="2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lacking;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7945" marR="61594">
                        <a:lnSpc>
                          <a:spcPts val="2520"/>
                        </a:lnSpc>
                        <a:spcBef>
                          <a:spcPts val="19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400" spc="26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feedback</a:t>
                      </a:r>
                      <a:r>
                        <a:rPr dirty="0" sz="14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400" spc="26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dirty="0" sz="1400">
                          <a:latin typeface="Microsoft Sans Serif"/>
                          <a:cs typeface="Microsoft Sans Serif"/>
                        </a:rPr>
                        <a:t>‑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loop;</a:t>
                      </a:r>
                      <a:r>
                        <a:rPr dirty="0" sz="1400" spc="3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performance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just" marL="68580" marR="61594">
                        <a:lnSpc>
                          <a:spcPts val="2490"/>
                        </a:lnSpc>
                        <a:spcBef>
                          <a:spcPts val="45"/>
                        </a:spcBef>
                        <a:tabLst>
                          <a:tab pos="1323340" algn="l"/>
                        </a:tabLst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4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400" spc="4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archery</a:t>
                      </a:r>
                      <a:r>
                        <a:rPr dirty="0" sz="14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loads,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durability,</a:t>
                      </a:r>
                      <a:r>
                        <a:rPr dirty="0" sz="1400" spc="38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dirty="0" sz="1400" spc="385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explored;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precision,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repeatability</a:t>
                      </a:r>
                      <a:r>
                        <a:rPr dirty="0" sz="14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4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dirty="0" sz="14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4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dirty="0" sz="14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cycles</a:t>
                      </a:r>
                      <a:r>
                        <a:rPr dirty="0" sz="14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4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well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documented.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Electric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Steering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Gear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Based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Microcontroller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Arduino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[Amad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Narto,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7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Suharto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Suharto,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Regga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Diko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  <a:tr h="2559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Catur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47214" y="876897"/>
          <a:ext cx="9737090" cy="577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655"/>
                <a:gridCol w="1576070"/>
                <a:gridCol w="1517014"/>
                <a:gridCol w="1856739"/>
                <a:gridCol w="2518410"/>
                <a:gridCol w="1511934"/>
              </a:tblGrid>
              <a:tr h="27876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Year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Title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Domain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Algorithm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Dataset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7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Gap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</a:tr>
              <a:tr h="550100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600" spc="-10">
                          <a:latin typeface="Microsoft Sans Serif"/>
                          <a:cs typeface="Microsoft Sans Serif"/>
                        </a:rPr>
                        <a:t>‑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 marR="207645">
                        <a:lnSpc>
                          <a:spcPct val="148000"/>
                        </a:lnSpc>
                        <a:spcBef>
                          <a:spcPts val="6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autonomous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car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implementation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[ARM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Khairudin]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Autonomous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 marR="61594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vehicles</a:t>
                      </a:r>
                      <a:r>
                        <a:rPr dirty="0" sz="16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driver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assistance</a:t>
                      </a:r>
                      <a:r>
                        <a:rPr dirty="0" sz="1600" spc="385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automation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Probably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sensor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 marR="60960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fusion,</a:t>
                      </a:r>
                      <a:r>
                        <a:rPr dirty="0" sz="1600" spc="14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dirty="0" sz="1600" spc="15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methods;</a:t>
                      </a:r>
                      <a:r>
                        <a:rPr dirty="0" sz="16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600" spc="35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algorithm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dirty="0" sz="1600" spc="3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3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found</a:t>
                      </a:r>
                      <a:r>
                        <a:rPr dirty="0" sz="1600" spc="3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summary.</a:t>
                      </a:r>
                      <a:r>
                        <a:rPr dirty="0" sz="1600" spc="39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Could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123952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include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vision,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 marR="61594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steering</a:t>
                      </a:r>
                      <a:r>
                        <a:rPr dirty="0" sz="1600" spc="47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control,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planning.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Experimental</a:t>
                      </a:r>
                      <a:r>
                        <a:rPr dirty="0" sz="1600" spc="455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prototype;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68580" marR="62230">
                        <a:lnSpc>
                          <a:spcPct val="148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dirty="0" sz="16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hardware;</a:t>
                      </a:r>
                      <a:r>
                        <a:rPr dirty="0" sz="16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6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public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info;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likely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own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trials.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600" spc="-10">
                          <a:latin typeface="Microsoft Sans Serif"/>
                          <a:cs typeface="Microsoft Sans Serif"/>
                        </a:rPr>
                        <a:t>‑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ct val="148000"/>
                        </a:lnSpc>
                        <a:spcBef>
                          <a:spcPts val="60"/>
                        </a:spcBef>
                        <a:tabLst>
                          <a:tab pos="979805" algn="l"/>
                          <a:tab pos="1306830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autonomy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partial;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likely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 marR="60960">
                        <a:lnSpc>
                          <a:spcPct val="148000"/>
                        </a:lnSpc>
                        <a:tabLst>
                          <a:tab pos="483234" algn="l"/>
                          <a:tab pos="1160780" algn="l"/>
                          <a:tab pos="1183005" algn="l"/>
                          <a:tab pos="1386205" algn="l"/>
                        </a:tabLst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test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environments;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generalization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varied roads/weather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established; reliability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	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deeply</a:t>
                      </a:r>
                      <a:r>
                        <a:rPr dirty="0" sz="16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validated.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86" y="338873"/>
            <a:ext cx="6779259" cy="6273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/>
              <a:t>Limitations</a:t>
            </a:r>
            <a:r>
              <a:rPr dirty="0" sz="3950" spc="-80"/>
              <a:t> </a:t>
            </a:r>
            <a:r>
              <a:rPr dirty="0" sz="3950"/>
              <a:t>of</a:t>
            </a:r>
            <a:r>
              <a:rPr dirty="0" sz="3950" spc="-80"/>
              <a:t> </a:t>
            </a:r>
            <a:r>
              <a:rPr dirty="0" sz="3950"/>
              <a:t>Existing</a:t>
            </a:r>
            <a:r>
              <a:rPr dirty="0" sz="3950" spc="-80"/>
              <a:t> </a:t>
            </a:r>
            <a:r>
              <a:rPr dirty="0" sz="3950" spc="-10"/>
              <a:t>Systems</a:t>
            </a:r>
            <a:endParaRPr sz="3950"/>
          </a:p>
        </p:txBody>
      </p:sp>
      <p:sp>
        <p:nvSpPr>
          <p:cNvPr id="3" name="object 3" descr=""/>
          <p:cNvSpPr txBox="1"/>
          <p:nvPr/>
        </p:nvSpPr>
        <p:spPr>
          <a:xfrm>
            <a:off x="198268" y="917611"/>
            <a:ext cx="9211945" cy="621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0525" marR="5715" indent="-377825">
              <a:lnSpc>
                <a:spcPct val="150000"/>
              </a:lnSpc>
              <a:spcBef>
                <a:spcPts val="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  <a:tab pos="1037590" algn="l"/>
                <a:tab pos="1642745" algn="l"/>
                <a:tab pos="1909445" algn="l"/>
                <a:tab pos="3304540" algn="l"/>
                <a:tab pos="4685030" algn="l"/>
                <a:tab pos="5557520" algn="l"/>
                <a:tab pos="6501130" algn="l"/>
                <a:tab pos="6950709" algn="l"/>
                <a:tab pos="8168005" algn="l"/>
              </a:tabLst>
            </a:pPr>
            <a:r>
              <a:rPr dirty="0" sz="2000" spc="-20">
                <a:latin typeface="Times New Roman"/>
                <a:cs typeface="Times New Roman"/>
              </a:rPr>
              <a:t>High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Times New Roman"/>
                <a:cs typeface="Times New Roman"/>
              </a:rPr>
              <a:t>Cost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–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Commercial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autonomous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vehicle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systems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are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expensive,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restricting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researchers,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small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developers</a:t>
            </a:r>
            <a:endParaRPr sz="2000"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</a:tabLst>
            </a:pPr>
            <a:r>
              <a:rPr dirty="0" sz="2000">
                <a:latin typeface="Times New Roman"/>
                <a:cs typeface="Times New Roman"/>
              </a:rPr>
              <a:t>Complexity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advanced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sensors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3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makes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difficult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prototype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0">
                <a:latin typeface="Times New Roman"/>
                <a:cs typeface="Times New Roman"/>
              </a:rPr>
              <a:t> replicate.</a:t>
            </a:r>
            <a:endParaRPr sz="2000">
              <a:latin typeface="Times New Roman"/>
              <a:cs typeface="Times New Roman"/>
            </a:endParaRPr>
          </a:p>
          <a:p>
            <a:pPr marL="390525" marR="6350" indent="-377825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  <a:tab pos="1700530" algn="l"/>
                <a:tab pos="2559685" algn="l"/>
                <a:tab pos="2854960" algn="l"/>
                <a:tab pos="3545204" algn="l"/>
                <a:tab pos="4630420" algn="l"/>
                <a:tab pos="5109210" algn="l"/>
                <a:tab pos="6736080" algn="l"/>
                <a:tab pos="7708900" algn="l"/>
              </a:tabLst>
            </a:pPr>
            <a:r>
              <a:rPr dirty="0" sz="2000" spc="-10">
                <a:latin typeface="Times New Roman"/>
                <a:cs typeface="Times New Roman"/>
              </a:rPr>
              <a:t>Proprietary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Nature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–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Times New Roman"/>
                <a:cs typeface="Times New Roman"/>
              </a:rPr>
              <a:t>Most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solutions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are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closed-source,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limiting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customization, </a:t>
            </a:r>
            <a:r>
              <a:rPr dirty="0" sz="2000">
                <a:latin typeface="Times New Roman"/>
                <a:cs typeface="Times New Roman"/>
              </a:rPr>
              <a:t>experimentation,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academic </a:t>
            </a:r>
            <a:r>
              <a:rPr dirty="0" sz="2000" spc="-10">
                <a:latin typeface="Times New Roman"/>
                <a:cs typeface="Times New Roman"/>
              </a:rPr>
              <a:t>learning.</a:t>
            </a:r>
            <a:endParaRPr sz="2000">
              <a:latin typeface="Times New Roman"/>
              <a:cs typeface="Times New Roman"/>
            </a:endParaRPr>
          </a:p>
          <a:p>
            <a:pPr marL="390525" marR="5715" indent="-377825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  <a:tab pos="1569720" algn="l"/>
                <a:tab pos="3159125" algn="l"/>
                <a:tab pos="3465195" algn="l"/>
                <a:tab pos="4899025" algn="l"/>
                <a:tab pos="5332095" algn="l"/>
                <a:tab pos="6639559" algn="l"/>
                <a:tab pos="7185659" algn="l"/>
                <a:tab pos="7971155" algn="l"/>
              </a:tabLst>
            </a:pPr>
            <a:r>
              <a:rPr dirty="0" sz="2000" spc="-10">
                <a:latin typeface="Times New Roman"/>
                <a:cs typeface="Times New Roman"/>
              </a:rPr>
              <a:t>Hardware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Requirements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–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Dependence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on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specialized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costly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components </a:t>
            </a:r>
            <a:r>
              <a:rPr dirty="0" sz="2000">
                <a:latin typeface="Times New Roman"/>
                <a:cs typeface="Times New Roman"/>
              </a:rPr>
              <a:t>increases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barriers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entry.</a:t>
            </a:r>
            <a:endParaRPr sz="2000">
              <a:latin typeface="Times New Roman"/>
              <a:cs typeface="Times New Roman"/>
            </a:endParaRPr>
          </a:p>
          <a:p>
            <a:pPr marL="390525" marR="5715" indent="-377825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</a:tabLst>
            </a:pPr>
            <a:r>
              <a:rPr dirty="0" sz="2000">
                <a:latin typeface="Times New Roman"/>
                <a:cs typeface="Times New Roman"/>
              </a:rPr>
              <a:t>Scalability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Issues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platforms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modular,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expand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or </a:t>
            </a:r>
            <a:r>
              <a:rPr dirty="0" sz="2000">
                <a:latin typeface="Times New Roman"/>
                <a:cs typeface="Times New Roman"/>
              </a:rPr>
              <a:t>adapt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 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educational or small-scale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 marL="390525" marR="6350" indent="-377825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390525" algn="l"/>
                <a:tab pos="1332865" algn="l"/>
                <a:tab pos="2795905" algn="l"/>
                <a:tab pos="3061335" algn="l"/>
                <a:tab pos="3707129" algn="l"/>
                <a:tab pos="4057015" algn="l"/>
                <a:tab pos="5300980" algn="l"/>
                <a:tab pos="5932805" algn="l"/>
                <a:tab pos="7043420" algn="l"/>
                <a:tab pos="8041640" algn="l"/>
              </a:tabLst>
            </a:pPr>
            <a:r>
              <a:rPr dirty="0" sz="2000" spc="-10">
                <a:latin typeface="Times New Roman"/>
                <a:cs typeface="Times New Roman"/>
              </a:rPr>
              <a:t>Limited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Accessibility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–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Times New Roman"/>
                <a:cs typeface="Times New Roman"/>
              </a:rPr>
              <a:t>Lack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of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affordable,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Times New Roman"/>
                <a:cs typeface="Times New Roman"/>
              </a:rPr>
              <a:t>open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platforms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prevents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widespread </a:t>
            </a:r>
            <a:r>
              <a:rPr dirty="0" sz="2000">
                <a:latin typeface="Times New Roman"/>
                <a:cs typeface="Times New Roman"/>
              </a:rPr>
              <a:t>participation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innovation.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249" rIns="0" bIns="0" rtlCol="0" vert="horz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Problem</a:t>
            </a:r>
            <a:r>
              <a:rPr dirty="0" sz="3600" spc="-95"/>
              <a:t> </a:t>
            </a:r>
            <a:r>
              <a:rPr dirty="0" sz="3600" spc="-10"/>
              <a:t>statement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366523" y="1425473"/>
            <a:ext cx="862330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10">
                <a:latin typeface="Times New Roman"/>
                <a:cs typeface="Times New Roman"/>
              </a:rPr>
              <a:t>Self-</a:t>
            </a:r>
            <a:r>
              <a:rPr dirty="0" sz="2000">
                <a:latin typeface="Times New Roman"/>
                <a:cs typeface="Times New Roman"/>
              </a:rPr>
              <a:t>driving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technologies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expensive,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complex,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proprietary,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making </a:t>
            </a:r>
            <a:r>
              <a:rPr dirty="0" sz="2000">
                <a:latin typeface="Times New Roman"/>
                <a:cs typeface="Times New Roman"/>
              </a:rPr>
              <a:t>them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inaccessible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small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developers.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There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affordable, </a:t>
            </a:r>
            <a:r>
              <a:rPr dirty="0" sz="2000">
                <a:latin typeface="Times New Roman"/>
                <a:cs typeface="Times New Roman"/>
              </a:rPr>
              <a:t>modular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platforms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functions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steering,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braking,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object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detection.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addresses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gap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creating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 spc="-20">
                <a:latin typeface="Times New Roman"/>
                <a:cs typeface="Times New Roman"/>
              </a:rPr>
              <a:t>low-</a:t>
            </a:r>
            <a:r>
              <a:rPr dirty="0" sz="2000">
                <a:latin typeface="Times New Roman"/>
                <a:cs typeface="Times New Roman"/>
              </a:rPr>
              <a:t>cost,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scalable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using </a:t>
            </a:r>
            <a:r>
              <a:rPr dirty="0" sz="2000">
                <a:latin typeface="Times New Roman"/>
                <a:cs typeface="Times New Roman"/>
              </a:rPr>
              <a:t>accessible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components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Arduino,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stepper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motors,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angle </a:t>
            </a:r>
            <a:r>
              <a:rPr dirty="0" sz="2000">
                <a:latin typeface="Times New Roman"/>
                <a:cs typeface="Times New Roman"/>
              </a:rPr>
              <a:t>prediction,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inclusive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practical..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24" y="273898"/>
            <a:ext cx="19024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Objective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222507" y="866700"/>
            <a:ext cx="8519795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Clr>
                <a:srgbClr val="5FCAEE"/>
              </a:buClr>
              <a:buSzPct val="80555"/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implement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low-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autonomous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steering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control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integrates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deep </a:t>
            </a:r>
            <a:r>
              <a:rPr dirty="0" sz="1800" spc="-10">
                <a:latin typeface="Times New Roman"/>
                <a:cs typeface="Times New Roman"/>
              </a:rPr>
              <a:t>learning,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embedded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hardware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replicate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human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driving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behaviour.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555"/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Train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Convolutional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Neural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Network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(CNN)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video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datasets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converted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frames, </a:t>
            </a:r>
            <a:r>
              <a:rPr dirty="0" sz="1800">
                <a:latin typeface="Times New Roman"/>
                <a:cs typeface="Times New Roman"/>
              </a:rPr>
              <a:t>enabling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road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visuals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steering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angles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time.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555"/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Translate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predictions</a:t>
            </a:r>
            <a:r>
              <a:rPr dirty="0" sz="1800" spc="2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physical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steering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actions</a:t>
            </a:r>
            <a:r>
              <a:rPr dirty="0" sz="1800" spc="2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Arduino-</a:t>
            </a:r>
            <a:r>
              <a:rPr dirty="0" sz="1800" spc="-10">
                <a:latin typeface="Times New Roman"/>
                <a:cs typeface="Times New Roman"/>
              </a:rPr>
              <a:t>controlled </a:t>
            </a:r>
            <a:r>
              <a:rPr dirty="0" sz="1800">
                <a:latin typeface="Times New Roman"/>
                <a:cs typeface="Times New Roman"/>
              </a:rPr>
              <a:t>stepper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motor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attached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steering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wheel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setup.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1100"/>
              </a:spcBef>
              <a:buClr>
                <a:srgbClr val="5FCAEE"/>
              </a:buClr>
              <a:buSzPct val="80555"/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Ensure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reliability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incorporating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speed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control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noise filtering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mechanisms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smooth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steering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performance.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043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System</a:t>
            </a:r>
            <a:r>
              <a:rPr dirty="0" sz="3600" spc="-130"/>
              <a:t> </a:t>
            </a:r>
            <a:r>
              <a:rPr dirty="0" sz="3600" spc="-10"/>
              <a:t>Design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598726" y="1747469"/>
            <a:ext cx="2343150" cy="1105535"/>
          </a:xfrm>
          <a:prstGeom prst="rect">
            <a:avLst/>
          </a:prstGeom>
          <a:ln w="19049">
            <a:solidFill>
              <a:srgbClr val="95D141"/>
            </a:solidFill>
          </a:ln>
        </p:spPr>
        <p:txBody>
          <a:bodyPr wrap="square" lIns="0" tIns="240029" rIns="0" bIns="0" rtlCol="0" vert="horz">
            <a:spAutoFit/>
          </a:bodyPr>
          <a:lstStyle/>
          <a:p>
            <a:pPr marL="875030" marR="216535" indent="-652145">
              <a:lnSpc>
                <a:spcPct val="100000"/>
              </a:lnSpc>
              <a:spcBef>
                <a:spcPts val="1889"/>
              </a:spcBef>
            </a:pPr>
            <a:r>
              <a:rPr dirty="0" sz="2000">
                <a:latin typeface="Trebuchet MS"/>
                <a:cs typeface="Trebuchet MS"/>
              </a:rPr>
              <a:t>Input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from</a:t>
            </a:r>
            <a:r>
              <a:rPr dirty="0" sz="2000" spc="-2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video input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04006" y="1834286"/>
            <a:ext cx="1983739" cy="931544"/>
          </a:xfrm>
          <a:prstGeom prst="rect">
            <a:avLst/>
          </a:prstGeom>
          <a:ln w="19049">
            <a:solidFill>
              <a:srgbClr val="95D141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640080" marR="344170" indent="-288925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rebuchet MS"/>
                <a:cs typeface="Trebuchet MS"/>
              </a:rPr>
              <a:t>Fed</a:t>
            </a:r>
            <a:r>
              <a:rPr dirty="0" sz="2000" spc="-1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</a:t>
            </a:r>
            <a:r>
              <a:rPr dirty="0" sz="2000" spc="-1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CNN </a:t>
            </a:r>
            <a:r>
              <a:rPr dirty="0" sz="2000" spc="-10">
                <a:latin typeface="Trebuchet MS"/>
                <a:cs typeface="Trebuchet MS"/>
              </a:rPr>
              <a:t>model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941675" y="2249233"/>
            <a:ext cx="375285" cy="101600"/>
            <a:chOff x="2941675" y="2249233"/>
            <a:chExt cx="375285" cy="101600"/>
          </a:xfrm>
        </p:grpSpPr>
        <p:sp>
          <p:nvSpPr>
            <p:cNvPr id="6" name="object 6" descr=""/>
            <p:cNvSpPr/>
            <p:nvPr/>
          </p:nvSpPr>
          <p:spPr>
            <a:xfrm>
              <a:off x="2941675" y="2300033"/>
              <a:ext cx="362585" cy="0"/>
            </a:xfrm>
            <a:custGeom>
              <a:avLst/>
              <a:gdLst/>
              <a:ahLst/>
              <a:cxnLst/>
              <a:rect l="l" t="t" r="r" b="b"/>
              <a:pathLst>
                <a:path w="362585" h="0">
                  <a:moveTo>
                    <a:pt x="0" y="0"/>
                  </a:moveTo>
                  <a:lnTo>
                    <a:pt x="362333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5109" y="2249233"/>
              <a:ext cx="101599" cy="101599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5649467" y="1834286"/>
            <a:ext cx="1983739" cy="931544"/>
          </a:xfrm>
          <a:custGeom>
            <a:avLst/>
            <a:gdLst/>
            <a:ahLst/>
            <a:cxnLst/>
            <a:rect l="l" t="t" r="r" b="b"/>
            <a:pathLst>
              <a:path w="1983740" h="931544">
                <a:moveTo>
                  <a:pt x="1983130" y="0"/>
                </a:moveTo>
                <a:lnTo>
                  <a:pt x="0" y="0"/>
                </a:lnTo>
                <a:lnTo>
                  <a:pt x="0" y="931494"/>
                </a:lnTo>
                <a:lnTo>
                  <a:pt x="1983130" y="931494"/>
                </a:lnTo>
                <a:lnTo>
                  <a:pt x="19831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649467" y="1834286"/>
            <a:ext cx="1983739" cy="931544"/>
          </a:xfrm>
          <a:prstGeom prst="rect">
            <a:avLst/>
          </a:prstGeom>
          <a:ln w="19049">
            <a:solidFill>
              <a:srgbClr val="95D141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187325" marR="180975" indent="342265">
              <a:lnSpc>
                <a:spcPct val="100000"/>
              </a:lnSpc>
              <a:spcBef>
                <a:spcPts val="1205"/>
              </a:spcBef>
            </a:pPr>
            <a:r>
              <a:rPr dirty="0" sz="2000" spc="-10">
                <a:latin typeface="Trebuchet MS"/>
                <a:cs typeface="Trebuchet MS"/>
              </a:rPr>
              <a:t>Predicts </a:t>
            </a:r>
            <a:r>
              <a:rPr dirty="0" sz="2000">
                <a:latin typeface="Trebuchet MS"/>
                <a:cs typeface="Trebuchet MS"/>
              </a:rPr>
              <a:t>steering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angle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274436" y="2249233"/>
            <a:ext cx="2358390" cy="1865630"/>
            <a:chOff x="5274436" y="2249233"/>
            <a:chExt cx="2358390" cy="1865630"/>
          </a:xfrm>
        </p:grpSpPr>
        <p:sp>
          <p:nvSpPr>
            <p:cNvPr id="11" name="object 11" descr=""/>
            <p:cNvSpPr/>
            <p:nvPr/>
          </p:nvSpPr>
          <p:spPr>
            <a:xfrm>
              <a:off x="5287136" y="2300033"/>
              <a:ext cx="362585" cy="0"/>
            </a:xfrm>
            <a:custGeom>
              <a:avLst/>
              <a:gdLst/>
              <a:ahLst/>
              <a:cxnLst/>
              <a:rect l="l" t="t" r="r" b="b"/>
              <a:pathLst>
                <a:path w="362585" h="0">
                  <a:moveTo>
                    <a:pt x="0" y="0"/>
                  </a:moveTo>
                  <a:lnTo>
                    <a:pt x="362333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0570" y="2249233"/>
              <a:ext cx="101599" cy="10159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649467" y="3183026"/>
              <a:ext cx="1983739" cy="931544"/>
            </a:xfrm>
            <a:custGeom>
              <a:avLst/>
              <a:gdLst/>
              <a:ahLst/>
              <a:cxnLst/>
              <a:rect l="l" t="t" r="r" b="b"/>
              <a:pathLst>
                <a:path w="1983740" h="931545">
                  <a:moveTo>
                    <a:pt x="1983130" y="0"/>
                  </a:moveTo>
                  <a:lnTo>
                    <a:pt x="0" y="0"/>
                  </a:lnTo>
                  <a:lnTo>
                    <a:pt x="0" y="931494"/>
                  </a:lnTo>
                  <a:lnTo>
                    <a:pt x="1983130" y="931494"/>
                  </a:lnTo>
                  <a:lnTo>
                    <a:pt x="198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649467" y="3183026"/>
            <a:ext cx="1983739" cy="931544"/>
          </a:xfrm>
          <a:prstGeom prst="rect">
            <a:avLst/>
          </a:prstGeom>
          <a:ln w="19049">
            <a:solidFill>
              <a:srgbClr val="95D141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553085" marR="481330" indent="-65405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rebuchet MS"/>
                <a:cs typeface="Trebuchet MS"/>
              </a:rPr>
              <a:t>Inputs</a:t>
            </a:r>
            <a:r>
              <a:rPr dirty="0" sz="2000" spc="-25">
                <a:latin typeface="Trebuchet MS"/>
                <a:cs typeface="Trebuchet MS"/>
              </a:rPr>
              <a:t> to </a:t>
            </a:r>
            <a:r>
              <a:rPr dirty="0" sz="2000" spc="-10">
                <a:latin typeface="Trebuchet MS"/>
                <a:cs typeface="Trebuchet MS"/>
              </a:rPr>
              <a:t>Arduino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649467" y="2753080"/>
            <a:ext cx="1983739" cy="2683510"/>
            <a:chOff x="5649467" y="2753080"/>
            <a:chExt cx="1983739" cy="2683510"/>
          </a:xfrm>
        </p:grpSpPr>
        <p:sp>
          <p:nvSpPr>
            <p:cNvPr id="16" name="object 16" descr=""/>
            <p:cNvSpPr/>
            <p:nvPr/>
          </p:nvSpPr>
          <p:spPr>
            <a:xfrm>
              <a:off x="6641033" y="2765780"/>
              <a:ext cx="0" cy="417830"/>
            </a:xfrm>
            <a:custGeom>
              <a:avLst/>
              <a:gdLst/>
              <a:ahLst/>
              <a:cxnLst/>
              <a:rect l="l" t="t" r="r" b="b"/>
              <a:pathLst>
                <a:path w="0" h="417830">
                  <a:moveTo>
                    <a:pt x="0" y="0"/>
                  </a:moveTo>
                  <a:lnTo>
                    <a:pt x="0" y="41724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0233" y="3094126"/>
              <a:ext cx="101599" cy="10159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649467" y="4504524"/>
              <a:ext cx="1983739" cy="931544"/>
            </a:xfrm>
            <a:custGeom>
              <a:avLst/>
              <a:gdLst/>
              <a:ahLst/>
              <a:cxnLst/>
              <a:rect l="l" t="t" r="r" b="b"/>
              <a:pathLst>
                <a:path w="1983740" h="931545">
                  <a:moveTo>
                    <a:pt x="1983130" y="0"/>
                  </a:moveTo>
                  <a:lnTo>
                    <a:pt x="0" y="0"/>
                  </a:lnTo>
                  <a:lnTo>
                    <a:pt x="0" y="931494"/>
                  </a:lnTo>
                  <a:lnTo>
                    <a:pt x="1983130" y="931494"/>
                  </a:lnTo>
                  <a:lnTo>
                    <a:pt x="198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649467" y="4504525"/>
            <a:ext cx="1983739" cy="931544"/>
          </a:xfrm>
          <a:prstGeom prst="rect">
            <a:avLst/>
          </a:prstGeom>
          <a:ln w="19049">
            <a:solidFill>
              <a:srgbClr val="95D141"/>
            </a:solidFill>
          </a:ln>
        </p:spPr>
        <p:txBody>
          <a:bodyPr wrap="square" lIns="0" tIns="153035" rIns="0" bIns="0" rtlCol="0" vert="horz">
            <a:spAutoFit/>
          </a:bodyPr>
          <a:lstStyle/>
          <a:p>
            <a:pPr marL="455930" marR="244475" indent="-205104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rebuchet MS"/>
                <a:cs typeface="Trebuchet MS"/>
              </a:rPr>
              <a:t>Operates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the </a:t>
            </a:r>
            <a:r>
              <a:rPr dirty="0" sz="2000" spc="-10">
                <a:latin typeface="Trebuchet MS"/>
                <a:cs typeface="Trebuchet MS"/>
              </a:rPr>
              <a:t>actuators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306229" y="4114520"/>
            <a:ext cx="3385820" cy="1089660"/>
            <a:chOff x="3306229" y="4114520"/>
            <a:chExt cx="3385820" cy="1089660"/>
          </a:xfrm>
        </p:grpSpPr>
        <p:sp>
          <p:nvSpPr>
            <p:cNvPr id="21" name="object 21" descr=""/>
            <p:cNvSpPr/>
            <p:nvPr/>
          </p:nvSpPr>
          <p:spPr>
            <a:xfrm>
              <a:off x="6641033" y="4114520"/>
              <a:ext cx="0" cy="390525"/>
            </a:xfrm>
            <a:custGeom>
              <a:avLst/>
              <a:gdLst/>
              <a:ahLst/>
              <a:cxnLst/>
              <a:rect l="l" t="t" r="r" b="b"/>
              <a:pathLst>
                <a:path w="0" h="390525">
                  <a:moveTo>
                    <a:pt x="0" y="0"/>
                  </a:moveTo>
                  <a:lnTo>
                    <a:pt x="0" y="390004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0233" y="4415624"/>
              <a:ext cx="101599" cy="10159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005651" y="4968938"/>
              <a:ext cx="643890" cy="1905"/>
            </a:xfrm>
            <a:custGeom>
              <a:avLst/>
              <a:gdLst/>
              <a:ahLst/>
              <a:cxnLst/>
              <a:rect l="l" t="t" r="r" b="b"/>
              <a:pathLst>
                <a:path w="643889" h="1904">
                  <a:moveTo>
                    <a:pt x="643816" y="133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2951" y="4918303"/>
              <a:ext cx="101677" cy="10158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315754" y="4743234"/>
              <a:ext cx="1690370" cy="451484"/>
            </a:xfrm>
            <a:custGeom>
              <a:avLst/>
              <a:gdLst/>
              <a:ahLst/>
              <a:cxnLst/>
              <a:rect l="l" t="t" r="r" b="b"/>
              <a:pathLst>
                <a:path w="1690370" h="451485">
                  <a:moveTo>
                    <a:pt x="1464195" y="0"/>
                  </a:moveTo>
                  <a:lnTo>
                    <a:pt x="225706" y="0"/>
                  </a:lnTo>
                  <a:lnTo>
                    <a:pt x="180458" y="4619"/>
                  </a:lnTo>
                  <a:lnTo>
                    <a:pt x="138203" y="17855"/>
                  </a:lnTo>
                  <a:lnTo>
                    <a:pt x="99879" y="38768"/>
                  </a:lnTo>
                  <a:lnTo>
                    <a:pt x="66421" y="66422"/>
                  </a:lnTo>
                  <a:lnTo>
                    <a:pt x="38767" y="99880"/>
                  </a:lnTo>
                  <a:lnTo>
                    <a:pt x="17854" y="138204"/>
                  </a:lnTo>
                  <a:lnTo>
                    <a:pt x="4619" y="180458"/>
                  </a:lnTo>
                  <a:lnTo>
                    <a:pt x="0" y="225704"/>
                  </a:lnTo>
                  <a:lnTo>
                    <a:pt x="4619" y="270953"/>
                  </a:lnTo>
                  <a:lnTo>
                    <a:pt x="17854" y="313209"/>
                  </a:lnTo>
                  <a:lnTo>
                    <a:pt x="38767" y="351533"/>
                  </a:lnTo>
                  <a:lnTo>
                    <a:pt x="66421" y="384990"/>
                  </a:lnTo>
                  <a:lnTo>
                    <a:pt x="99879" y="412643"/>
                  </a:lnTo>
                  <a:lnTo>
                    <a:pt x="138203" y="433555"/>
                  </a:lnTo>
                  <a:lnTo>
                    <a:pt x="180458" y="446789"/>
                  </a:lnTo>
                  <a:lnTo>
                    <a:pt x="225706" y="451408"/>
                  </a:lnTo>
                  <a:lnTo>
                    <a:pt x="1464195" y="451408"/>
                  </a:lnTo>
                  <a:lnTo>
                    <a:pt x="1509445" y="446789"/>
                  </a:lnTo>
                  <a:lnTo>
                    <a:pt x="1551700" y="433555"/>
                  </a:lnTo>
                  <a:lnTo>
                    <a:pt x="1590025" y="412643"/>
                  </a:lnTo>
                  <a:lnTo>
                    <a:pt x="1623482" y="384990"/>
                  </a:lnTo>
                  <a:lnTo>
                    <a:pt x="1651134" y="351533"/>
                  </a:lnTo>
                  <a:lnTo>
                    <a:pt x="1672046" y="313209"/>
                  </a:lnTo>
                  <a:lnTo>
                    <a:pt x="1685280" y="270953"/>
                  </a:lnTo>
                  <a:lnTo>
                    <a:pt x="1689900" y="225704"/>
                  </a:lnTo>
                  <a:lnTo>
                    <a:pt x="1685280" y="180458"/>
                  </a:lnTo>
                  <a:lnTo>
                    <a:pt x="1672046" y="138204"/>
                  </a:lnTo>
                  <a:lnTo>
                    <a:pt x="1651134" y="99880"/>
                  </a:lnTo>
                  <a:lnTo>
                    <a:pt x="1623482" y="66422"/>
                  </a:lnTo>
                  <a:lnTo>
                    <a:pt x="1590025" y="38768"/>
                  </a:lnTo>
                  <a:lnTo>
                    <a:pt x="1551700" y="17855"/>
                  </a:lnTo>
                  <a:lnTo>
                    <a:pt x="1509445" y="4619"/>
                  </a:lnTo>
                  <a:lnTo>
                    <a:pt x="14641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315754" y="4743234"/>
              <a:ext cx="1690370" cy="451484"/>
            </a:xfrm>
            <a:custGeom>
              <a:avLst/>
              <a:gdLst/>
              <a:ahLst/>
              <a:cxnLst/>
              <a:rect l="l" t="t" r="r" b="b"/>
              <a:pathLst>
                <a:path w="1690370" h="451485">
                  <a:moveTo>
                    <a:pt x="0" y="225704"/>
                  </a:moveTo>
                  <a:lnTo>
                    <a:pt x="4619" y="180458"/>
                  </a:lnTo>
                  <a:lnTo>
                    <a:pt x="17854" y="138204"/>
                  </a:lnTo>
                  <a:lnTo>
                    <a:pt x="38767" y="99880"/>
                  </a:lnTo>
                  <a:lnTo>
                    <a:pt x="66421" y="66422"/>
                  </a:lnTo>
                  <a:lnTo>
                    <a:pt x="99879" y="38768"/>
                  </a:lnTo>
                  <a:lnTo>
                    <a:pt x="138203" y="17855"/>
                  </a:lnTo>
                  <a:lnTo>
                    <a:pt x="180458" y="4619"/>
                  </a:lnTo>
                  <a:lnTo>
                    <a:pt x="225706" y="0"/>
                  </a:lnTo>
                  <a:lnTo>
                    <a:pt x="1464195" y="0"/>
                  </a:lnTo>
                  <a:lnTo>
                    <a:pt x="1509445" y="4619"/>
                  </a:lnTo>
                  <a:lnTo>
                    <a:pt x="1551700" y="17855"/>
                  </a:lnTo>
                  <a:lnTo>
                    <a:pt x="1590025" y="38768"/>
                  </a:lnTo>
                  <a:lnTo>
                    <a:pt x="1623482" y="66422"/>
                  </a:lnTo>
                  <a:lnTo>
                    <a:pt x="1651134" y="99880"/>
                  </a:lnTo>
                  <a:lnTo>
                    <a:pt x="1672046" y="138204"/>
                  </a:lnTo>
                  <a:lnTo>
                    <a:pt x="1685280" y="180458"/>
                  </a:lnTo>
                  <a:lnTo>
                    <a:pt x="1689900" y="225704"/>
                  </a:lnTo>
                  <a:lnTo>
                    <a:pt x="1685280" y="270953"/>
                  </a:lnTo>
                  <a:lnTo>
                    <a:pt x="1672046" y="313209"/>
                  </a:lnTo>
                  <a:lnTo>
                    <a:pt x="1651134" y="351533"/>
                  </a:lnTo>
                  <a:lnTo>
                    <a:pt x="1623482" y="384990"/>
                  </a:lnTo>
                  <a:lnTo>
                    <a:pt x="1590025" y="412643"/>
                  </a:lnTo>
                  <a:lnTo>
                    <a:pt x="1551700" y="433555"/>
                  </a:lnTo>
                  <a:lnTo>
                    <a:pt x="1509445" y="446789"/>
                  </a:lnTo>
                  <a:lnTo>
                    <a:pt x="1464195" y="451408"/>
                  </a:lnTo>
                  <a:lnTo>
                    <a:pt x="225706" y="451408"/>
                  </a:lnTo>
                  <a:lnTo>
                    <a:pt x="180458" y="446789"/>
                  </a:lnTo>
                  <a:lnTo>
                    <a:pt x="138203" y="433555"/>
                  </a:lnTo>
                  <a:lnTo>
                    <a:pt x="99879" y="412643"/>
                  </a:lnTo>
                  <a:lnTo>
                    <a:pt x="66421" y="384990"/>
                  </a:lnTo>
                  <a:lnTo>
                    <a:pt x="38767" y="351533"/>
                  </a:lnTo>
                  <a:lnTo>
                    <a:pt x="17854" y="313209"/>
                  </a:lnTo>
                  <a:lnTo>
                    <a:pt x="4619" y="270953"/>
                  </a:lnTo>
                  <a:lnTo>
                    <a:pt x="0" y="225704"/>
                  </a:lnTo>
                  <a:close/>
                </a:path>
              </a:pathLst>
            </a:custGeom>
            <a:ln w="19049">
              <a:solidFill>
                <a:srgbClr val="95D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925248" y="3357613"/>
            <a:ext cx="1690370" cy="451484"/>
          </a:xfrm>
          <a:custGeom>
            <a:avLst/>
            <a:gdLst/>
            <a:ahLst/>
            <a:cxnLst/>
            <a:rect l="l" t="t" r="r" b="b"/>
            <a:pathLst>
              <a:path w="1690370" h="451485">
                <a:moveTo>
                  <a:pt x="0" y="225704"/>
                </a:moveTo>
                <a:lnTo>
                  <a:pt x="4619" y="180458"/>
                </a:lnTo>
                <a:lnTo>
                  <a:pt x="17854" y="138204"/>
                </a:lnTo>
                <a:lnTo>
                  <a:pt x="38767" y="99880"/>
                </a:lnTo>
                <a:lnTo>
                  <a:pt x="66421" y="66422"/>
                </a:lnTo>
                <a:lnTo>
                  <a:pt x="99879" y="38768"/>
                </a:lnTo>
                <a:lnTo>
                  <a:pt x="138203" y="17855"/>
                </a:lnTo>
                <a:lnTo>
                  <a:pt x="180458" y="4619"/>
                </a:lnTo>
                <a:lnTo>
                  <a:pt x="225706" y="0"/>
                </a:lnTo>
                <a:lnTo>
                  <a:pt x="1464195" y="0"/>
                </a:lnTo>
                <a:lnTo>
                  <a:pt x="1509445" y="4619"/>
                </a:lnTo>
                <a:lnTo>
                  <a:pt x="1551700" y="17855"/>
                </a:lnTo>
                <a:lnTo>
                  <a:pt x="1590025" y="38768"/>
                </a:lnTo>
                <a:lnTo>
                  <a:pt x="1623482" y="66422"/>
                </a:lnTo>
                <a:lnTo>
                  <a:pt x="1651134" y="99880"/>
                </a:lnTo>
                <a:lnTo>
                  <a:pt x="1672046" y="138204"/>
                </a:lnTo>
                <a:lnTo>
                  <a:pt x="1685280" y="180458"/>
                </a:lnTo>
                <a:lnTo>
                  <a:pt x="1689900" y="225704"/>
                </a:lnTo>
                <a:lnTo>
                  <a:pt x="1685280" y="270953"/>
                </a:lnTo>
                <a:lnTo>
                  <a:pt x="1672046" y="313209"/>
                </a:lnTo>
                <a:lnTo>
                  <a:pt x="1651134" y="351533"/>
                </a:lnTo>
                <a:lnTo>
                  <a:pt x="1623482" y="384990"/>
                </a:lnTo>
                <a:lnTo>
                  <a:pt x="1590025" y="412643"/>
                </a:lnTo>
                <a:lnTo>
                  <a:pt x="1551700" y="433555"/>
                </a:lnTo>
                <a:lnTo>
                  <a:pt x="1509445" y="446789"/>
                </a:lnTo>
                <a:lnTo>
                  <a:pt x="1464195" y="451408"/>
                </a:lnTo>
                <a:lnTo>
                  <a:pt x="225706" y="451408"/>
                </a:lnTo>
                <a:lnTo>
                  <a:pt x="180458" y="446789"/>
                </a:lnTo>
                <a:lnTo>
                  <a:pt x="138203" y="433555"/>
                </a:lnTo>
                <a:lnTo>
                  <a:pt x="99879" y="412643"/>
                </a:lnTo>
                <a:lnTo>
                  <a:pt x="66421" y="384990"/>
                </a:lnTo>
                <a:lnTo>
                  <a:pt x="38767" y="351533"/>
                </a:lnTo>
                <a:lnTo>
                  <a:pt x="17854" y="313209"/>
                </a:lnTo>
                <a:lnTo>
                  <a:pt x="4619" y="270953"/>
                </a:lnTo>
                <a:lnTo>
                  <a:pt x="0" y="225704"/>
                </a:lnTo>
                <a:close/>
              </a:path>
            </a:pathLst>
          </a:custGeom>
          <a:ln w="19049">
            <a:solidFill>
              <a:srgbClr val="95D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489482" y="3410699"/>
            <a:ext cx="561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Trebuchet MS"/>
                <a:cs typeface="Trebuchet MS"/>
              </a:rPr>
              <a:t>start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938770" y="4796320"/>
            <a:ext cx="444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latin typeface="Trebuchet MS"/>
                <a:cs typeface="Trebuchet MS"/>
              </a:rPr>
              <a:t>end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719402" y="2839885"/>
            <a:ext cx="101600" cy="518159"/>
            <a:chOff x="1719402" y="2839885"/>
            <a:chExt cx="101600" cy="518159"/>
          </a:xfrm>
        </p:grpSpPr>
        <p:sp>
          <p:nvSpPr>
            <p:cNvPr id="31" name="object 31" descr=""/>
            <p:cNvSpPr/>
            <p:nvPr/>
          </p:nvSpPr>
          <p:spPr>
            <a:xfrm>
              <a:off x="1770202" y="2852585"/>
              <a:ext cx="0" cy="505459"/>
            </a:xfrm>
            <a:custGeom>
              <a:avLst/>
              <a:gdLst/>
              <a:ahLst/>
              <a:cxnLst/>
              <a:rect l="l" t="t" r="r" b="b"/>
              <a:pathLst>
                <a:path w="0" h="505460">
                  <a:moveTo>
                    <a:pt x="0" y="505028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9402" y="2839885"/>
              <a:ext cx="101599" cy="101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043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Technologies</a:t>
            </a:r>
            <a:r>
              <a:rPr dirty="0" sz="3600" spc="-45"/>
              <a:t> </a:t>
            </a:r>
            <a:r>
              <a:rPr dirty="0" sz="3600"/>
              <a:t>and</a:t>
            </a:r>
            <a:r>
              <a:rPr dirty="0" sz="3600" spc="-40"/>
              <a:t> </a:t>
            </a:r>
            <a:r>
              <a:rPr dirty="0" sz="3600" spc="-10"/>
              <a:t>methodologies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472440" y="1861629"/>
            <a:ext cx="9019540" cy="332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715" indent="-285750">
              <a:lnSpc>
                <a:spcPct val="100000"/>
              </a:lnSpc>
              <a:spcBef>
                <a:spcPts val="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2000" spc="2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CNN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model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Processes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video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input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predict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steering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angle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2000" spc="2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0D0D0D"/>
                </a:solidFill>
                <a:latin typeface="Times New Roman"/>
                <a:cs typeface="Times New Roman"/>
              </a:rPr>
              <a:t>road 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patterns.</a:t>
            </a:r>
            <a:endParaRPr sz="2000">
              <a:latin typeface="Times New Roman"/>
              <a:cs typeface="Times New Roman"/>
            </a:endParaRPr>
          </a:p>
          <a:p>
            <a:pPr marL="298450" marR="5715" indent="-285750">
              <a:lnSpc>
                <a:spcPct val="10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Arduino</a:t>
            </a:r>
            <a:r>
              <a:rPr dirty="0" sz="2000" spc="4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Mega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controller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Acts</a:t>
            </a:r>
            <a:r>
              <a:rPr dirty="0" sz="2000" spc="4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bridge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between</a:t>
            </a:r>
            <a:r>
              <a:rPr dirty="0" sz="2000" spc="4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commands</a:t>
            </a:r>
            <a:r>
              <a:rPr dirty="0" sz="2000" spc="4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0D0D0D"/>
                </a:solidFill>
                <a:latin typeface="Times New Roman"/>
                <a:cs typeface="Times New Roman"/>
              </a:rPr>
              <a:t>and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physical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motor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actions.</a:t>
            </a:r>
            <a:endParaRPr sz="20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Stepper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motor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000" spc="3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motor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driver</a:t>
            </a:r>
            <a:r>
              <a:rPr dirty="0" sz="2000" spc="3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Controls</a:t>
            </a:r>
            <a:r>
              <a:rPr dirty="0" sz="2000" spc="3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precise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rotation</a:t>
            </a:r>
            <a:r>
              <a:rPr dirty="0" sz="2000" spc="3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2000" spc="3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steering</a:t>
            </a:r>
            <a:r>
              <a:rPr dirty="0" sz="2000" spc="3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wheel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20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predicted</a:t>
            </a:r>
            <a:r>
              <a:rPr dirty="0" sz="20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angles.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297815" algn="l"/>
              </a:tabLst>
            </a:pP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20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power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supply</a:t>
            </a:r>
            <a:r>
              <a:rPr dirty="0" sz="20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Provides</a:t>
            </a:r>
            <a:r>
              <a:rPr dirty="0" sz="20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stable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voltage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current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dirty="0" sz="20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all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electronic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 components.</a:t>
            </a:r>
            <a:endParaRPr sz="20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spcBef>
                <a:spcPts val="1100"/>
              </a:spcBef>
              <a:buClr>
                <a:srgbClr val="5FCAEE"/>
              </a:buClr>
              <a:buSzPct val="80000"/>
              <a:buFont typeface="Arial"/>
              <a:buChar char="•"/>
              <a:tabLst>
                <a:tab pos="298450" algn="l"/>
                <a:tab pos="1423670" algn="l"/>
                <a:tab pos="2535555" algn="l"/>
                <a:tab pos="2801620" algn="l"/>
                <a:tab pos="3757929" algn="l"/>
                <a:tab pos="4827270" algn="l"/>
                <a:tab pos="5670550" algn="l"/>
                <a:tab pos="6204585" algn="l"/>
                <a:tab pos="7499350" algn="l"/>
                <a:tab pos="8710295" algn="l"/>
              </a:tabLst>
            </a:pP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Actuators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(steering)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5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Convert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electrical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signals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20">
                <a:solidFill>
                  <a:srgbClr val="0D0D0D"/>
                </a:solidFill>
                <a:latin typeface="Times New Roman"/>
                <a:cs typeface="Times New Roman"/>
              </a:rPr>
              <a:t>into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mechanical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movement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Times New Roman"/>
                <a:cs typeface="Times New Roman"/>
              </a:rPr>
              <a:t>for </a:t>
            </a:r>
            <a:r>
              <a:rPr dirty="0" sz="2000">
                <a:solidFill>
                  <a:srgbClr val="0D0D0D"/>
                </a:solidFill>
                <a:latin typeface="Times New Roman"/>
                <a:cs typeface="Times New Roman"/>
              </a:rPr>
              <a:t>vehicle</a:t>
            </a:r>
            <a:r>
              <a:rPr dirty="0" sz="20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Times New Roman"/>
                <a:cs typeface="Times New Roman"/>
              </a:rPr>
              <a:t>control.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092" y="1244"/>
            <a:ext cx="31464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Implementation</a:t>
            </a:r>
            <a:endParaRPr sz="3600"/>
          </a:p>
        </p:txBody>
      </p:sp>
      <p:grpSp>
        <p:nvGrpSpPr>
          <p:cNvPr id="3" name="object 3" descr=""/>
          <p:cNvGrpSpPr/>
          <p:nvPr/>
        </p:nvGrpSpPr>
        <p:grpSpPr>
          <a:xfrm>
            <a:off x="1521472" y="562884"/>
            <a:ext cx="5309870" cy="6434455"/>
            <a:chOff x="1521472" y="562884"/>
            <a:chExt cx="5309870" cy="6434455"/>
          </a:xfrm>
        </p:grpSpPr>
        <p:sp>
          <p:nvSpPr>
            <p:cNvPr id="4" name="object 4" descr=""/>
            <p:cNvSpPr/>
            <p:nvPr/>
          </p:nvSpPr>
          <p:spPr>
            <a:xfrm>
              <a:off x="1521472" y="562884"/>
              <a:ext cx="5309870" cy="6434455"/>
            </a:xfrm>
            <a:custGeom>
              <a:avLst/>
              <a:gdLst/>
              <a:ahLst/>
              <a:cxnLst/>
              <a:rect l="l" t="t" r="r" b="b"/>
              <a:pathLst>
                <a:path w="5309870" h="6434455">
                  <a:moveTo>
                    <a:pt x="4424540" y="0"/>
                  </a:moveTo>
                  <a:lnTo>
                    <a:pt x="0" y="0"/>
                  </a:lnTo>
                  <a:lnTo>
                    <a:pt x="0" y="5548972"/>
                  </a:lnTo>
                  <a:lnTo>
                    <a:pt x="884929" y="6433905"/>
                  </a:lnTo>
                  <a:lnTo>
                    <a:pt x="5309476" y="6433905"/>
                  </a:lnTo>
                  <a:lnTo>
                    <a:pt x="5309476" y="884935"/>
                  </a:lnTo>
                  <a:lnTo>
                    <a:pt x="4424540" y="0"/>
                  </a:lnTo>
                  <a:close/>
                </a:path>
              </a:pathLst>
            </a:custGeom>
            <a:solidFill>
              <a:srgbClr val="000000">
                <a:alpha val="4470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83931" y="625334"/>
              <a:ext cx="5184775" cy="6309360"/>
            </a:xfrm>
            <a:custGeom>
              <a:avLst/>
              <a:gdLst/>
              <a:ahLst/>
              <a:cxnLst/>
              <a:rect l="l" t="t" r="r" b="b"/>
              <a:pathLst>
                <a:path w="5184775" h="6309359">
                  <a:moveTo>
                    <a:pt x="4320463" y="0"/>
                  </a:moveTo>
                  <a:lnTo>
                    <a:pt x="0" y="0"/>
                  </a:lnTo>
                  <a:lnTo>
                    <a:pt x="0" y="5444896"/>
                  </a:lnTo>
                  <a:lnTo>
                    <a:pt x="864113" y="6309004"/>
                  </a:lnTo>
                  <a:lnTo>
                    <a:pt x="5184571" y="6309004"/>
                  </a:lnTo>
                  <a:lnTo>
                    <a:pt x="5184571" y="864107"/>
                  </a:lnTo>
                  <a:lnTo>
                    <a:pt x="4320463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83931" y="625334"/>
              <a:ext cx="5184775" cy="6309360"/>
            </a:xfrm>
            <a:custGeom>
              <a:avLst/>
              <a:gdLst/>
              <a:ahLst/>
              <a:cxnLst/>
              <a:rect l="l" t="t" r="r" b="b"/>
              <a:pathLst>
                <a:path w="5184775" h="6309359">
                  <a:moveTo>
                    <a:pt x="0" y="0"/>
                  </a:moveTo>
                  <a:lnTo>
                    <a:pt x="4320463" y="0"/>
                  </a:lnTo>
                  <a:lnTo>
                    <a:pt x="5184571" y="864107"/>
                  </a:lnTo>
                  <a:lnTo>
                    <a:pt x="5184571" y="6309004"/>
                  </a:lnTo>
                  <a:lnTo>
                    <a:pt x="864113" y="6309004"/>
                  </a:lnTo>
                  <a:lnTo>
                    <a:pt x="0" y="5444896"/>
                  </a:lnTo>
                  <a:lnTo>
                    <a:pt x="0" y="0"/>
                  </a:lnTo>
                  <a:close/>
                </a:path>
              </a:pathLst>
            </a:custGeom>
            <a:ln w="888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931" y="625334"/>
              <a:ext cx="5184571" cy="630900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583931" y="625334"/>
              <a:ext cx="5184775" cy="6309360"/>
            </a:xfrm>
            <a:custGeom>
              <a:avLst/>
              <a:gdLst/>
              <a:ahLst/>
              <a:cxnLst/>
              <a:rect l="l" t="t" r="r" b="b"/>
              <a:pathLst>
                <a:path w="5184775" h="6309359">
                  <a:moveTo>
                    <a:pt x="0" y="0"/>
                  </a:moveTo>
                  <a:lnTo>
                    <a:pt x="4320463" y="0"/>
                  </a:lnTo>
                  <a:lnTo>
                    <a:pt x="5184571" y="864107"/>
                  </a:lnTo>
                  <a:lnTo>
                    <a:pt x="5184571" y="6309004"/>
                  </a:lnTo>
                  <a:lnTo>
                    <a:pt x="864113" y="6309004"/>
                  </a:lnTo>
                  <a:lnTo>
                    <a:pt x="0" y="5444896"/>
                  </a:lnTo>
                  <a:lnTo>
                    <a:pt x="0" y="0"/>
                  </a:lnTo>
                  <a:close/>
                </a:path>
              </a:pathLst>
            </a:custGeom>
            <a:ln w="888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043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Expected</a:t>
            </a:r>
            <a:r>
              <a:rPr dirty="0" sz="3600" spc="-60"/>
              <a:t> </a:t>
            </a:r>
            <a:r>
              <a:rPr dirty="0" sz="3600" spc="-10"/>
              <a:t>Outcome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366524" y="1683791"/>
            <a:ext cx="8355330" cy="398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0256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prototype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auto-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Arduino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stepper motor.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18161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translation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AI-</a:t>
            </a:r>
            <a:r>
              <a:rPr dirty="0" sz="2000">
                <a:latin typeface="Times New Roman"/>
                <a:cs typeface="Times New Roman"/>
              </a:rPr>
              <a:t>predicted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angles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mechanical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steering control.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18859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Demonstration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low-</a:t>
            </a:r>
            <a:r>
              <a:rPr dirty="0" sz="2000">
                <a:latin typeface="Times New Roman"/>
                <a:cs typeface="Times New Roman"/>
              </a:rPr>
              <a:t>cost,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modular,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scalable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approach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autonomous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developers,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researchers.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Foundation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future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braking,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acceleration,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object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detection modules.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7796" rIns="0" bIns="0" rtlCol="0" vert="horz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dirty="0" spc="50"/>
              <a:t> </a:t>
            </a:r>
            <a:r>
              <a:rPr dirty="0"/>
              <a:t>project</a:t>
            </a:r>
            <a:r>
              <a:rPr dirty="0" spc="50"/>
              <a:t> </a:t>
            </a:r>
            <a:r>
              <a:rPr dirty="0"/>
              <a:t>demonstrates</a:t>
            </a:r>
            <a:r>
              <a:rPr dirty="0" spc="50"/>
              <a:t> </a:t>
            </a:r>
            <a:r>
              <a:rPr dirty="0"/>
              <a:t>a</a:t>
            </a:r>
            <a:r>
              <a:rPr dirty="0" spc="50"/>
              <a:t> </a:t>
            </a:r>
            <a:r>
              <a:rPr dirty="0" spc="-20"/>
              <a:t>low-</a:t>
            </a:r>
            <a:r>
              <a:rPr dirty="0"/>
              <a:t>cost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55"/>
              <a:t> </a:t>
            </a:r>
            <a:r>
              <a:rPr dirty="0"/>
              <a:t>modular</a:t>
            </a:r>
            <a:r>
              <a:rPr dirty="0" spc="50"/>
              <a:t> </a:t>
            </a:r>
            <a:r>
              <a:rPr dirty="0" spc="-10"/>
              <a:t>auto-</a:t>
            </a:r>
            <a:r>
              <a:rPr dirty="0"/>
              <a:t>steering</a:t>
            </a:r>
            <a:r>
              <a:rPr dirty="0" spc="50"/>
              <a:t> </a:t>
            </a:r>
            <a:r>
              <a:rPr dirty="0"/>
              <a:t>system</a:t>
            </a:r>
            <a:r>
              <a:rPr dirty="0" spc="50"/>
              <a:t> </a:t>
            </a:r>
            <a:r>
              <a:rPr dirty="0"/>
              <a:t>using</a:t>
            </a:r>
            <a:r>
              <a:rPr dirty="0" spc="50"/>
              <a:t> </a:t>
            </a:r>
            <a:r>
              <a:rPr dirty="0" spc="-10"/>
              <a:t>Arduino </a:t>
            </a:r>
            <a:r>
              <a:rPr dirty="0"/>
              <a:t>and</a:t>
            </a:r>
            <a:r>
              <a:rPr dirty="0" spc="110"/>
              <a:t>  </a:t>
            </a:r>
            <a:r>
              <a:rPr dirty="0"/>
              <a:t>a</a:t>
            </a:r>
            <a:r>
              <a:rPr dirty="0" spc="110"/>
              <a:t>  </a:t>
            </a:r>
            <a:r>
              <a:rPr dirty="0"/>
              <a:t>stepper</a:t>
            </a:r>
            <a:r>
              <a:rPr dirty="0" spc="110"/>
              <a:t>  </a:t>
            </a:r>
            <a:r>
              <a:rPr dirty="0"/>
              <a:t>motor,</a:t>
            </a:r>
            <a:r>
              <a:rPr dirty="0" spc="110"/>
              <a:t>  </a:t>
            </a:r>
            <a:r>
              <a:rPr dirty="0"/>
              <a:t>showing</a:t>
            </a:r>
            <a:r>
              <a:rPr dirty="0" spc="110"/>
              <a:t>  </a:t>
            </a:r>
            <a:r>
              <a:rPr dirty="0"/>
              <a:t>that</a:t>
            </a:r>
            <a:r>
              <a:rPr dirty="0" spc="114"/>
              <a:t>  </a:t>
            </a:r>
            <a:r>
              <a:rPr dirty="0"/>
              <a:t>autonomous</a:t>
            </a:r>
            <a:r>
              <a:rPr dirty="0" spc="110"/>
              <a:t>  </a:t>
            </a:r>
            <a:r>
              <a:rPr dirty="0"/>
              <a:t>steering</a:t>
            </a:r>
            <a:r>
              <a:rPr dirty="0" spc="110"/>
              <a:t>  </a:t>
            </a:r>
            <a:r>
              <a:rPr dirty="0"/>
              <a:t>can</a:t>
            </a:r>
            <a:r>
              <a:rPr dirty="0" spc="110"/>
              <a:t>  </a:t>
            </a:r>
            <a:r>
              <a:rPr dirty="0"/>
              <a:t>be</a:t>
            </a:r>
            <a:r>
              <a:rPr dirty="0" spc="110"/>
              <a:t>  </a:t>
            </a:r>
            <a:r>
              <a:rPr dirty="0"/>
              <a:t>achieved</a:t>
            </a:r>
            <a:r>
              <a:rPr dirty="0" spc="114"/>
              <a:t>  </a:t>
            </a:r>
            <a:r>
              <a:rPr dirty="0" spc="-20"/>
              <a:t>with </a:t>
            </a:r>
            <a:r>
              <a:rPr dirty="0"/>
              <a:t>accessible</a:t>
            </a:r>
            <a:r>
              <a:rPr dirty="0" spc="-5"/>
              <a:t> </a:t>
            </a:r>
            <a:r>
              <a:rPr dirty="0"/>
              <a:t>hardware.</a:t>
            </a:r>
            <a:r>
              <a:rPr dirty="0" spc="-5"/>
              <a:t> </a:t>
            </a:r>
            <a:r>
              <a:rPr dirty="0"/>
              <a:t>The prototype</a:t>
            </a:r>
            <a:r>
              <a:rPr dirty="0" spc="-5"/>
              <a:t> </a:t>
            </a:r>
            <a:r>
              <a:rPr dirty="0"/>
              <a:t>effectively translates</a:t>
            </a:r>
            <a:r>
              <a:rPr dirty="0" spc="-5"/>
              <a:t> </a:t>
            </a:r>
            <a:r>
              <a:rPr dirty="0"/>
              <a:t>predicted steering</a:t>
            </a:r>
            <a:r>
              <a:rPr dirty="0" spc="-5"/>
              <a:t> </a:t>
            </a:r>
            <a:r>
              <a:rPr dirty="0"/>
              <a:t>angles </a:t>
            </a:r>
            <a:r>
              <a:rPr dirty="0" spc="-20"/>
              <a:t>into </a:t>
            </a:r>
            <a:r>
              <a:rPr dirty="0"/>
              <a:t>precise</a:t>
            </a:r>
            <a:r>
              <a:rPr dirty="0" spc="155"/>
              <a:t> </a:t>
            </a:r>
            <a:r>
              <a:rPr dirty="0"/>
              <a:t>control,</a:t>
            </a:r>
            <a:r>
              <a:rPr dirty="0" spc="160"/>
              <a:t> </a:t>
            </a:r>
            <a:r>
              <a:rPr dirty="0"/>
              <a:t>offering</a:t>
            </a:r>
            <a:r>
              <a:rPr dirty="0" spc="155"/>
              <a:t> </a:t>
            </a:r>
            <a:r>
              <a:rPr dirty="0"/>
              <a:t>a</a:t>
            </a:r>
            <a:r>
              <a:rPr dirty="0" spc="160"/>
              <a:t> </a:t>
            </a:r>
            <a:r>
              <a:rPr dirty="0"/>
              <a:t>scalable</a:t>
            </a:r>
            <a:r>
              <a:rPr dirty="0" spc="155"/>
              <a:t> </a:t>
            </a:r>
            <a:r>
              <a:rPr dirty="0"/>
              <a:t>platform</a:t>
            </a:r>
            <a:r>
              <a:rPr dirty="0" spc="160"/>
              <a:t> </a:t>
            </a:r>
            <a:r>
              <a:rPr dirty="0"/>
              <a:t>for</a:t>
            </a:r>
            <a:r>
              <a:rPr dirty="0" spc="155"/>
              <a:t> </a:t>
            </a:r>
            <a:r>
              <a:rPr dirty="0"/>
              <a:t>learning</a:t>
            </a:r>
            <a:r>
              <a:rPr dirty="0" spc="160"/>
              <a:t> </a:t>
            </a:r>
            <a:r>
              <a:rPr dirty="0"/>
              <a:t>and</a:t>
            </a:r>
            <a:r>
              <a:rPr dirty="0" spc="155"/>
              <a:t> </a:t>
            </a:r>
            <a:r>
              <a:rPr dirty="0"/>
              <a:t>research</a:t>
            </a:r>
            <a:r>
              <a:rPr dirty="0" spc="160"/>
              <a:t> </a:t>
            </a:r>
            <a:r>
              <a:rPr dirty="0"/>
              <a:t>in</a:t>
            </a:r>
            <a:r>
              <a:rPr dirty="0" spc="155"/>
              <a:t> </a:t>
            </a:r>
            <a:r>
              <a:rPr dirty="0" spc="-10"/>
              <a:t>autonomous </a:t>
            </a:r>
            <a:r>
              <a:rPr dirty="0"/>
              <a:t>electric</a:t>
            </a:r>
            <a:r>
              <a:rPr dirty="0" spc="180"/>
              <a:t> </a:t>
            </a:r>
            <a:r>
              <a:rPr dirty="0"/>
              <a:t>vehicles.</a:t>
            </a:r>
            <a:r>
              <a:rPr dirty="0" spc="185"/>
              <a:t> </a:t>
            </a:r>
            <a:r>
              <a:rPr dirty="0"/>
              <a:t>While</a:t>
            </a:r>
            <a:r>
              <a:rPr dirty="0" spc="185"/>
              <a:t> </a:t>
            </a:r>
            <a:r>
              <a:rPr dirty="0"/>
              <a:t>limited</a:t>
            </a:r>
            <a:r>
              <a:rPr dirty="0" spc="185"/>
              <a:t> </a:t>
            </a:r>
            <a:r>
              <a:rPr dirty="0"/>
              <a:t>to</a:t>
            </a:r>
            <a:r>
              <a:rPr dirty="0" spc="185"/>
              <a:t> </a:t>
            </a:r>
            <a:r>
              <a:rPr dirty="0"/>
              <a:t>steering,</a:t>
            </a:r>
            <a:r>
              <a:rPr dirty="0" spc="185"/>
              <a:t> </a:t>
            </a:r>
            <a:r>
              <a:rPr dirty="0"/>
              <a:t>the</a:t>
            </a:r>
            <a:r>
              <a:rPr dirty="0" spc="185"/>
              <a:t> </a:t>
            </a:r>
            <a:r>
              <a:rPr dirty="0"/>
              <a:t>system</a:t>
            </a:r>
            <a:r>
              <a:rPr dirty="0" spc="180"/>
              <a:t> </a:t>
            </a:r>
            <a:r>
              <a:rPr dirty="0"/>
              <a:t>lays</a:t>
            </a:r>
            <a:r>
              <a:rPr dirty="0" spc="185"/>
              <a:t> </a:t>
            </a:r>
            <a:r>
              <a:rPr dirty="0"/>
              <a:t>the</a:t>
            </a:r>
            <a:r>
              <a:rPr dirty="0" spc="185"/>
              <a:t> </a:t>
            </a:r>
            <a:r>
              <a:rPr dirty="0"/>
              <a:t>foundation</a:t>
            </a:r>
            <a:r>
              <a:rPr dirty="0" spc="185"/>
              <a:t> </a:t>
            </a:r>
            <a:r>
              <a:rPr dirty="0"/>
              <a:t>for</a:t>
            </a:r>
            <a:r>
              <a:rPr dirty="0" spc="185"/>
              <a:t> </a:t>
            </a:r>
            <a:r>
              <a:rPr dirty="0" spc="-10"/>
              <a:t>future </a:t>
            </a:r>
            <a:r>
              <a:rPr dirty="0"/>
              <a:t>integration  of</a:t>
            </a:r>
            <a:r>
              <a:rPr dirty="0" spc="5"/>
              <a:t>  </a:t>
            </a:r>
            <a:r>
              <a:rPr dirty="0"/>
              <a:t>braking,  acceleration,</a:t>
            </a:r>
            <a:r>
              <a:rPr dirty="0" spc="5"/>
              <a:t>  </a:t>
            </a:r>
            <a:r>
              <a:rPr dirty="0"/>
              <a:t>and</a:t>
            </a:r>
            <a:r>
              <a:rPr dirty="0" spc="5"/>
              <a:t>  </a:t>
            </a:r>
            <a:r>
              <a:rPr dirty="0"/>
              <a:t>perception  modules,</a:t>
            </a:r>
            <a:r>
              <a:rPr dirty="0" spc="5"/>
              <a:t>  </a:t>
            </a:r>
            <a:r>
              <a:rPr dirty="0"/>
              <a:t>making  </a:t>
            </a:r>
            <a:r>
              <a:rPr dirty="0" spc="-10"/>
              <a:t>autonomous </a:t>
            </a:r>
            <a:r>
              <a:rPr dirty="0"/>
              <a:t>vehicle</a:t>
            </a:r>
            <a:r>
              <a:rPr dirty="0" spc="-15"/>
              <a:t> </a:t>
            </a:r>
            <a:r>
              <a:rPr dirty="0"/>
              <a:t>development</a:t>
            </a:r>
            <a:r>
              <a:rPr dirty="0" spc="-15"/>
              <a:t> </a:t>
            </a:r>
            <a:r>
              <a:rPr dirty="0"/>
              <a:t>more</a:t>
            </a:r>
            <a:r>
              <a:rPr dirty="0" spc="-10"/>
              <a:t> </a:t>
            </a:r>
            <a:r>
              <a:rPr dirty="0"/>
              <a:t>affordable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inclusive</a:t>
            </a:r>
            <a:r>
              <a:rPr dirty="0" spc="-10">
                <a:latin typeface="Trebuchet MS"/>
                <a:cs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957" y="216176"/>
            <a:ext cx="21564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References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194227" y="1126387"/>
            <a:ext cx="9331325" cy="454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9095" indent="35941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Golluri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Ramcharan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Dhunnapothula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Raghu,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“Arduino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stepper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speed </a:t>
            </a:r>
            <a:r>
              <a:rPr dirty="0" sz="2000">
                <a:latin typeface="Times New Roman"/>
                <a:cs typeface="Times New Roman"/>
              </a:rPr>
              <a:t>regulation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robotics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applications,”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2024,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ResearchGate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(conference/article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preprint).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lain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lain"/>
            </a:pPr>
            <a:endParaRPr sz="2000">
              <a:latin typeface="Times New Roman"/>
              <a:cs typeface="Times New Roman"/>
            </a:endParaRPr>
          </a:p>
          <a:p>
            <a:pPr marL="12700" marR="223520" indent="359410">
              <a:lnSpc>
                <a:spcPct val="100000"/>
              </a:lnSpc>
              <a:buAutoNum type="arabicPlain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Dr.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Ruchi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Pandey,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Goswami,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Uttam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Yadav,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Yogesh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Vishwakarma, </a:t>
            </a:r>
            <a:r>
              <a:rPr dirty="0" sz="2000">
                <a:latin typeface="Times New Roman"/>
                <a:cs typeface="Times New Roman"/>
              </a:rPr>
              <a:t>“Designing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Crafting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Stepper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Position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Arduino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Mega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2560,”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Feb. </a:t>
            </a:r>
            <a:r>
              <a:rPr dirty="0" sz="2000">
                <a:latin typeface="Times New Roman"/>
                <a:cs typeface="Times New Roman"/>
              </a:rPr>
              <a:t>2023,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International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Journal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Of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Innovation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In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Engineering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Research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&amp;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Management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Times New Roman"/>
              <a:buAutoNum type="arabicPlain"/>
            </a:pPr>
            <a:endParaRPr sz="2000">
              <a:latin typeface="Times New Roman"/>
              <a:cs typeface="Times New Roman"/>
            </a:endParaRPr>
          </a:p>
          <a:p>
            <a:pPr marL="12700" marR="5080" indent="422909">
              <a:lnSpc>
                <a:spcPct val="100000"/>
              </a:lnSpc>
              <a:buAutoNum type="arabicPlain"/>
              <a:tabLst>
                <a:tab pos="435609" algn="l"/>
              </a:tabLst>
            </a:pPr>
            <a:r>
              <a:rPr dirty="0" sz="2000">
                <a:latin typeface="Times New Roman"/>
                <a:cs typeface="Times New Roman"/>
              </a:rPr>
              <a:t>Amad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Narto,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Suharto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Suharto,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Regga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Diko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Catur,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Prototype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Electric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Steering </a:t>
            </a:r>
            <a:r>
              <a:rPr dirty="0" sz="2000">
                <a:latin typeface="Times New Roman"/>
                <a:cs typeface="Times New Roman"/>
              </a:rPr>
              <a:t>Gear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Microcontroller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Arduino,”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2023, </a:t>
            </a:r>
            <a:r>
              <a:rPr dirty="0" sz="2000" i="1">
                <a:latin typeface="Times New Roman"/>
                <a:cs typeface="Times New Roman"/>
              </a:rPr>
              <a:t>RSF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Conference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Series: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Engineering</a:t>
            </a:r>
            <a:r>
              <a:rPr dirty="0" sz="2000" spc="-25" i="1">
                <a:latin typeface="Times New Roman"/>
                <a:cs typeface="Times New Roman"/>
              </a:rPr>
              <a:t> and </a:t>
            </a:r>
            <a:r>
              <a:rPr dirty="0" sz="2000" i="1">
                <a:latin typeface="Times New Roman"/>
                <a:cs typeface="Times New Roman"/>
              </a:rPr>
              <a:t>Technology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v.3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i.1.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Times New Roman"/>
              <a:buAutoNum type="arabicPlain"/>
            </a:pPr>
            <a:endParaRPr sz="2000">
              <a:latin typeface="Times New Roman"/>
              <a:cs typeface="Times New Roman"/>
            </a:endParaRPr>
          </a:p>
          <a:p>
            <a:pPr marL="12700" marR="441959" indent="359410">
              <a:lnSpc>
                <a:spcPct val="100000"/>
              </a:lnSpc>
              <a:buAutoNum type="arabicPlain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ARM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Khairudin,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“Design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Stepper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Archery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Drawer,”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2023, </a:t>
            </a:r>
            <a:r>
              <a:rPr dirty="0" sz="2000">
                <a:latin typeface="Times New Roman"/>
                <a:cs typeface="Times New Roman"/>
              </a:rPr>
              <a:t>Perintis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e-journal.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4505" y="565956"/>
            <a:ext cx="9100820" cy="5906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08430" indent="359410">
              <a:lnSpc>
                <a:spcPct val="100000"/>
              </a:lnSpc>
              <a:spcBef>
                <a:spcPts val="100"/>
              </a:spcBef>
              <a:buAutoNum type="arabicPlain" startAt="5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M.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S.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Mohammed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al.,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“Low-</a:t>
            </a:r>
            <a:r>
              <a:rPr dirty="0" sz="2000">
                <a:latin typeface="Times New Roman"/>
                <a:cs typeface="Times New Roman"/>
              </a:rPr>
              <a:t>cost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2: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implementation,”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2023, </a:t>
            </a:r>
            <a:r>
              <a:rPr dirty="0" sz="2000" spc="-10" i="1">
                <a:latin typeface="Times New Roman"/>
                <a:cs typeface="Times New Roman"/>
              </a:rPr>
              <a:t>ScienceDirect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AutoNum type="arabicPlain" startAt="5"/>
            </a:pPr>
            <a:endParaRPr sz="2000">
              <a:latin typeface="Times New Roman"/>
              <a:cs typeface="Times New Roman"/>
            </a:endParaRPr>
          </a:p>
          <a:p>
            <a:pPr marL="12700" marR="593090" indent="359410">
              <a:lnSpc>
                <a:spcPct val="100000"/>
              </a:lnSpc>
              <a:buAutoNum type="arabicPlain" startAt="5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“Development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</a:t>
            </a:r>
            <a:r>
              <a:rPr dirty="0" sz="2000" spc="-10">
                <a:latin typeface="Times New Roman"/>
                <a:cs typeface="Times New Roman"/>
              </a:rPr>
              <a:t>Four-</a:t>
            </a:r>
            <a:r>
              <a:rPr dirty="0" sz="2000">
                <a:latin typeface="Times New Roman"/>
                <a:cs typeface="Times New Roman"/>
              </a:rPr>
              <a:t>Wheel Steering (4WS) with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Arduino-</a:t>
            </a:r>
            <a:r>
              <a:rPr dirty="0" sz="2000">
                <a:latin typeface="Times New Roman"/>
                <a:cs typeface="Times New Roman"/>
              </a:rPr>
              <a:t>Controlled </a:t>
            </a:r>
            <a:r>
              <a:rPr dirty="0" sz="2000" spc="-10">
                <a:latin typeface="Times New Roman"/>
                <a:cs typeface="Times New Roman"/>
              </a:rPr>
              <a:t>Stepper </a:t>
            </a:r>
            <a:r>
              <a:rPr dirty="0" sz="2000">
                <a:latin typeface="Times New Roman"/>
                <a:cs typeface="Times New Roman"/>
              </a:rPr>
              <a:t>Motor,”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Nov.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2022,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International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Journal/Conference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Paper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AutoNum type="arabicPlain" startAt="5"/>
            </a:pPr>
            <a:endParaRPr sz="2000">
              <a:latin typeface="Times New Roman"/>
              <a:cs typeface="Times New Roman"/>
            </a:endParaRPr>
          </a:p>
          <a:p>
            <a:pPr marL="12700" marR="123825" indent="368300">
              <a:lnSpc>
                <a:spcPct val="100000"/>
              </a:lnSpc>
              <a:buFont typeface="Trebuchet MS"/>
              <a:buAutoNum type="arabicPlain" startAt="5"/>
              <a:tabLst>
                <a:tab pos="381000" algn="l"/>
              </a:tabLst>
            </a:pPr>
            <a:r>
              <a:rPr dirty="0" sz="2000">
                <a:latin typeface="Times New Roman"/>
                <a:cs typeface="Times New Roman"/>
              </a:rPr>
              <a:t>“Development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Steering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Small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Electric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Vehicle,”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Nov.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2022, </a:t>
            </a:r>
            <a:r>
              <a:rPr dirty="0" sz="2000">
                <a:latin typeface="Times New Roman"/>
                <a:cs typeface="Times New Roman"/>
              </a:rPr>
              <a:t>YMER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Digital.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AutoNum type="arabicPlain" startAt="5"/>
            </a:pPr>
            <a:endParaRPr sz="2000">
              <a:latin typeface="Times New Roman"/>
              <a:cs typeface="Times New Roman"/>
            </a:endParaRPr>
          </a:p>
          <a:p>
            <a:pPr marL="372110" indent="-359410">
              <a:lnSpc>
                <a:spcPct val="100000"/>
              </a:lnSpc>
              <a:buAutoNum type="arabicPlain" startAt="5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“Electronic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Hardware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Autonomous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Vehicle,”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2020, </a:t>
            </a:r>
            <a:r>
              <a:rPr dirty="0" sz="2000" spc="-10" i="1">
                <a:latin typeface="Times New Roman"/>
                <a:cs typeface="Times New Roman"/>
              </a:rPr>
              <a:t>IJERT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AutoNum type="arabicPlain" startAt="5"/>
            </a:pPr>
            <a:endParaRPr sz="2000">
              <a:latin typeface="Times New Roman"/>
              <a:cs typeface="Times New Roman"/>
            </a:endParaRPr>
          </a:p>
          <a:p>
            <a:pPr marL="12700" marR="102870" indent="359410">
              <a:lnSpc>
                <a:spcPct val="100000"/>
              </a:lnSpc>
              <a:buAutoNum type="arabicPlain" startAt="5"/>
              <a:tabLst>
                <a:tab pos="372110" algn="l"/>
              </a:tabLst>
            </a:pPr>
            <a:r>
              <a:rPr dirty="0" sz="2000">
                <a:latin typeface="Times New Roman"/>
                <a:cs typeface="Times New Roman"/>
              </a:rPr>
              <a:t>A.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Rossi,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Ahmed,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Salehin,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Hasnine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Choudhury,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Sarowar,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“Real-</a:t>
            </a:r>
            <a:r>
              <a:rPr dirty="0" sz="2000" spc="-20">
                <a:latin typeface="Times New Roman"/>
                <a:cs typeface="Times New Roman"/>
              </a:rPr>
              <a:t>time </a:t>
            </a:r>
            <a:r>
              <a:rPr dirty="0" sz="2000">
                <a:latin typeface="Times New Roman"/>
                <a:cs typeface="Times New Roman"/>
              </a:rPr>
              <a:t>Lane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Planning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Raspberry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Arduino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Autonomous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Prototype,”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Sep.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2020,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arXiv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preprint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arXiv:2009.09391.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AutoNum type="arabicPlain" startAt="5"/>
            </a:pPr>
            <a:endParaRPr sz="2000">
              <a:latin typeface="Times New Roman"/>
              <a:cs typeface="Times New Roman"/>
            </a:endParaRPr>
          </a:p>
          <a:p>
            <a:pPr marL="499109" indent="-486409">
              <a:lnSpc>
                <a:spcPct val="100000"/>
              </a:lnSpc>
              <a:buAutoNum type="arabicPlain" startAt="5"/>
              <a:tabLst>
                <a:tab pos="499109" algn="l"/>
              </a:tabLst>
            </a:pPr>
            <a:r>
              <a:rPr dirty="0" sz="2000">
                <a:latin typeface="Times New Roman"/>
                <a:cs typeface="Times New Roman"/>
              </a:rPr>
              <a:t>R.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Thrun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al.,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“Stanley: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Robot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DARPA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Challenge,”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2006,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i="1">
                <a:latin typeface="Times New Roman"/>
                <a:cs typeface="Times New Roman"/>
              </a:rPr>
              <a:t>Journal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of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Field</a:t>
            </a:r>
            <a:r>
              <a:rPr dirty="0" sz="2000" spc="-10" i="1">
                <a:latin typeface="Times New Roman"/>
                <a:cs typeface="Times New Roman"/>
              </a:rPr>
              <a:t> Robotics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108" y="3386416"/>
            <a:ext cx="28968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15"/>
              <a:t> </a:t>
            </a:r>
            <a:r>
              <a:rPr dirty="0" sz="3600" spc="-10"/>
              <a:t>You...!!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2025-11-15T05:34:37Z</dcterms:created>
  <dcterms:modified xsi:type="dcterms:W3CDTF">2025-11-15T05:34:37Z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LastSaved">
    <vt:filetime>2025-11-15T00:00:00Z</vt:filetime>
  </property>
  <property fmtid="{D5CDD505-2E9C-101B-9397-08002B2CF9AE}" pid="4" name="Producer">
    <vt:lpwstr>3-Heights(TM) PDF Security Shell 4.8.25.2 (http://www.pdf-tools.com)</vt:lpwstr>
  </property>
</Properties>
</file>